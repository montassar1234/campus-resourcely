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15eaa950c4d43dd" /><Relationship Type="http://schemas.openxmlformats.org/officeDocument/2006/relationships/extended-properties" Target="/docProps/app.xml" Id="R47f06743a8934930" /><Relationship Type="http://schemas.openxmlformats.org/officeDocument/2006/relationships/officeDocument" Target="/ppt/presentation.xml" Id="R175b540d718847b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2b660598c3b4860"/>
  </p:sldMasterIdLst>
  <p:notesMasterIdLst>
    <p:notesMasterId xmlns:r="http://schemas.openxmlformats.org/officeDocument/2006/relationships" r:id="R0d15fefb1d1b4ffd"/>
  </p:notesMasterIdLst>
  <p:sldIdLst>
    <p:sldId xmlns:r="http://schemas.openxmlformats.org/officeDocument/2006/relationships" id="256" r:id="R1edced4aabad42ca"/>
    <p:sldId xmlns:r="http://schemas.openxmlformats.org/officeDocument/2006/relationships" id="257" r:id="Rd9df84fa524c4f17"/>
    <p:sldId xmlns:r="http://schemas.openxmlformats.org/officeDocument/2006/relationships" id="258" r:id="Rf783120d488d4fd8"/>
    <p:sldId xmlns:r="http://schemas.openxmlformats.org/officeDocument/2006/relationships" id="259" r:id="Rde7e573f023541ee"/>
    <p:sldId xmlns:r="http://schemas.openxmlformats.org/officeDocument/2006/relationships" id="260" r:id="R11fe9f1c71754676"/>
    <p:sldId xmlns:r="http://schemas.openxmlformats.org/officeDocument/2006/relationships" id="261" r:id="R06622c2ba06d49d9"/>
    <p:sldId xmlns:r="http://schemas.openxmlformats.org/officeDocument/2006/relationships" id="262" r:id="R3216a038d5e2470f"/>
    <p:sldId xmlns:r="http://schemas.openxmlformats.org/officeDocument/2006/relationships" id="263" r:id="R840ccb0348af4ee5"/>
    <p:sldId xmlns:r="http://schemas.openxmlformats.org/officeDocument/2006/relationships" id="264" r:id="Rd0286f9f8dd54630"/>
    <p:sldId xmlns:r="http://schemas.openxmlformats.org/officeDocument/2006/relationships" id="265" r:id="R8f3b8fe334734824"/>
    <p:sldId xmlns:r="http://schemas.openxmlformats.org/officeDocument/2006/relationships" id="266" r:id="R02318aa53ee3437f"/>
  </p:sldIdLst>
  <p:sldSz cx="18288000" cy="10287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2b660598c3b4860" /><Relationship Type="http://schemas.openxmlformats.org/officeDocument/2006/relationships/theme" Target="/ppt/theme/theme1.xml" Id="Rc800f522df434fa7" /><Relationship Type="http://schemas.openxmlformats.org/officeDocument/2006/relationships/notesMaster" Target="/ppt/notesMasters/notesMaster1.xml" Id="R0d15fefb1d1b4ffd" /><Relationship Type="http://schemas.openxmlformats.org/officeDocument/2006/relationships/presProps" Target="/ppt/presProps.xml" Id="Rb4c6f8c8c24247c8" /><Relationship Type="http://schemas.openxmlformats.org/officeDocument/2006/relationships/viewProps" Target="/ppt/viewProps.xml" Id="Rf74372bb797b4a1c" /><Relationship Type="http://schemas.openxmlformats.org/officeDocument/2006/relationships/tableStyles" Target="/ppt/tableStyles.xml" Id="Rb55c203de6d0417c" /><Relationship Type="http://schemas.openxmlformats.org/officeDocument/2006/relationships/slide" Target="/ppt/slides/slide1.xml" Id="R1edced4aabad42ca" /><Relationship Type="http://schemas.openxmlformats.org/officeDocument/2006/relationships/slide" Target="/ppt/slides/slide2.xml" Id="Rd9df84fa524c4f17" /><Relationship Type="http://schemas.openxmlformats.org/officeDocument/2006/relationships/slide" Target="/ppt/slides/slide3.xml" Id="Rf783120d488d4fd8" /><Relationship Type="http://schemas.openxmlformats.org/officeDocument/2006/relationships/slide" Target="/ppt/slides/slide4.xml" Id="Rde7e573f023541ee" /><Relationship Type="http://schemas.openxmlformats.org/officeDocument/2006/relationships/slide" Target="/ppt/slides/slide5.xml" Id="R11fe9f1c71754676" /><Relationship Type="http://schemas.openxmlformats.org/officeDocument/2006/relationships/slide" Target="/ppt/slides/slide6.xml" Id="R06622c2ba06d49d9" /><Relationship Type="http://schemas.openxmlformats.org/officeDocument/2006/relationships/slide" Target="/ppt/slides/slide7.xml" Id="R3216a038d5e2470f" /><Relationship Type="http://schemas.openxmlformats.org/officeDocument/2006/relationships/slide" Target="/ppt/slides/slide8.xml" Id="R840ccb0348af4ee5" /><Relationship Type="http://schemas.openxmlformats.org/officeDocument/2006/relationships/slide" Target="/ppt/slides/slide9.xml" Id="Rd0286f9f8dd54630" /><Relationship Type="http://schemas.openxmlformats.org/officeDocument/2006/relationships/slide" Target="/ppt/slides/slide10.xml" Id="R8f3b8fe334734824" /><Relationship Type="http://schemas.openxmlformats.org/officeDocument/2006/relationships/slide" Target="/ppt/slides/slide11.xml" Id="R02318aa53ee3437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b13901cb7000492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772dcbff82346a6" /><Relationship Type="http://schemas.openxmlformats.org/officeDocument/2006/relationships/notesMaster" Target="/ppt/notesMasters/notesMaster1.xml" Id="Rb96e2542810c46e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6d74b2f11e64e75" /><Relationship Type="http://schemas.openxmlformats.org/officeDocument/2006/relationships/notesMaster" Target="/ppt/notesMasters/notesMaster1.xml" Id="R500bce5b4abd436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1414093d36e4439" /><Relationship Type="http://schemas.openxmlformats.org/officeDocument/2006/relationships/notesMaster" Target="/ppt/notesMasters/notesMaster1.xml" Id="Re68347e6e68a46b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a7bc94bf42a44c3" /><Relationship Type="http://schemas.openxmlformats.org/officeDocument/2006/relationships/notesMaster" Target="/ppt/notesMasters/notesMaster1.xml" Id="R4094dcd97a594d6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575c34c9f2d41e4" /><Relationship Type="http://schemas.openxmlformats.org/officeDocument/2006/relationships/notesMaster" Target="/ppt/notesMasters/notesMaster1.xml" Id="R0a80295c3b3645d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743590f743c4df2" /><Relationship Type="http://schemas.openxmlformats.org/officeDocument/2006/relationships/notesMaster" Target="/ppt/notesMasters/notesMaster1.xml" Id="R989d46c0c879465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ecd095e07c7412b" /><Relationship Type="http://schemas.openxmlformats.org/officeDocument/2006/relationships/notesMaster" Target="/ppt/notesMasters/notesMaster1.xml" Id="R9acf7fe4bea94e7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4abf8406c694284" /><Relationship Type="http://schemas.openxmlformats.org/officeDocument/2006/relationships/notesMaster" Target="/ppt/notesMasters/notesMaster1.xml" Id="R11705a6823dc44b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67427ff47b74ca6" /><Relationship Type="http://schemas.openxmlformats.org/officeDocument/2006/relationships/notesMaster" Target="/ppt/notesMasters/notesMaster1.xml" Id="R34d3dce9983a458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737747922174855" /><Relationship Type="http://schemas.openxmlformats.org/officeDocument/2006/relationships/notesMaster" Target="/ppt/notesMasters/notesMaster1.xml" Id="Rb21a8eacfb6943b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76b3eac158a4a6c" /><Relationship Type="http://schemas.openxmlformats.org/officeDocument/2006/relationships/notesMaster" Target="/ppt/notesMasters/notesMaster1.xml" Id="R51245967133f4ad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c41a734a3454e50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f00c949ecf0e4822" /><Relationship Type="http://schemas.openxmlformats.org/officeDocument/2006/relationships/slideLayout" Target="/ppt/slideLayouts/slideLayout2.xml" Id="R40937654ba874a4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0937654ba874a4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3f468d66265470b" /><Relationship Type="http://schemas.openxmlformats.org/officeDocument/2006/relationships/notesSlide" Target="/ppt/notesSlides/notesSlide1.xml" Id="R16df747fd0114da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87ac66f49b5423c" /><Relationship Type="http://schemas.openxmlformats.org/officeDocument/2006/relationships/notesSlide" Target="/ppt/notesSlides/notesSlide2.xml" Id="R5ab0aabe431e443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f6ec76ad1d24ec7" /><Relationship Type="http://schemas.openxmlformats.org/officeDocument/2006/relationships/notesSlide" Target="/ppt/notesSlides/notesSlide3.xml" Id="Ra7532e76db894aa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bdbe277fb3446b1" /><Relationship Type="http://schemas.openxmlformats.org/officeDocument/2006/relationships/notesSlide" Target="/ppt/notesSlides/notesSlide4.xml" Id="R8e8673cdcae3425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917aee10a9d4465" /><Relationship Type="http://schemas.openxmlformats.org/officeDocument/2006/relationships/notesSlide" Target="/ppt/notesSlides/notesSlide5.xml" Id="Rb853d35fd212446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dbc013ea38a4ab4" /><Relationship Type="http://schemas.openxmlformats.org/officeDocument/2006/relationships/notesSlide" Target="/ppt/notesSlides/notesSlide6.xml" Id="R5e384591da7d48e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eadb9fd33864cef" /><Relationship Type="http://schemas.openxmlformats.org/officeDocument/2006/relationships/notesSlide" Target="/ppt/notesSlides/notesSlide7.xml" Id="R01b691d08a06418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8cf960aa0d34f76" /><Relationship Type="http://schemas.openxmlformats.org/officeDocument/2006/relationships/notesSlide" Target="/ppt/notesSlides/notesSlide8.xml" Id="Rc96f8206e0a849e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4e24b345fb24979" /><Relationship Type="http://schemas.openxmlformats.org/officeDocument/2006/relationships/notesSlide" Target="/ppt/notesSlides/notesSlide9.xml" Id="R8c12460dd4b3446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8417d6f48594cb8" /><Relationship Type="http://schemas.openxmlformats.org/officeDocument/2006/relationships/notesSlide" Target="/ppt/notesSlides/notesSlide10.xml" Id="R4a02a18d19924f6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5b8e4b5588a4f22" /><Relationship Type="http://schemas.openxmlformats.org/officeDocument/2006/relationships/notesSlide" Target="/ppt/notesSlides/notesSlide11.xml" Id="R19c058a5cd4e49f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7354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-spring-boot-project-defense">
            <a:extLst xmlns:a="http://schemas.openxmlformats.org/drawingml/2006/main">
              <a:ext uri="{FF2B5EF4-FFF2-40B4-BE49-F238E27FC236}">
                <a16:creationId xmlns:a16="http://schemas.microsoft.com/office/drawing/2014/main" id="{32D8B0CF-E50C-4472-80D7-E830CD79B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838200"/>
            <a:ext cx="164592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E68158"/>
                </a:solidFill>
              </a:defRPr>
            </a:pPr>
            <a:r>
              <a:rPr sz="1350" b="1">
                <a:solidFill>
                  <a:srgbClr val="E68158"/>
                </a:solidFill>
              </a:rPr>
              <a:t>SPRING BOOT PROJECT DEFENSE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8AC0E5C5-AED2-409D-B701-A97B84D96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047750"/>
            <a:ext cx="4438650" cy="13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FFFDFC"/>
                </a:solidFill>
              </a:defRPr>
            </a:pPr>
            <a:r>
              <a:rPr sz="4350" b="1">
                <a:solidFill>
                  <a:srgbClr val="FFFDFC"/>
                </a:solidFill>
              </a:rPr>
              <a:t>Campus Resourcely</a:t>
            </a:r>
          </a:p>
        </p:txBody>
      </p:sp>
      <p:sp>
        <p:nvSpPr>
          <p:cNvPr id="3" name="cover-rule">
            <a:extLst xmlns:a="http://schemas.openxmlformats.org/drawingml/2006/main">
              <a:ext uri="{FF2B5EF4-FFF2-40B4-BE49-F238E27FC236}">
                <a16:creationId xmlns:a16="http://schemas.microsoft.com/office/drawing/2014/main" id="{9E70FA88-F68F-4DAC-879F-E240EEE28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28900"/>
            <a:ext cx="2095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8158"/>
          </a:solidFill>
          <a:ln xmlns:a="http://schemas.openxmlformats.org/drawingml/2006/main" w="0">
            <a:solidFill>
              <a:srgbClr val="E68158"/>
            </a:solidFill>
            <a:prstDash val="solid"/>
          </a:ln>
        </p:spPr>
      </p:sp>
      <p:sp>
        <p:nvSpPr>
          <p:cNvPr id="4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150B6F4F-DE04-4017-B97E-B19A61C1C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52750"/>
            <a:ext cx="121158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DCE7F2"/>
                </a:solidFill>
              </a:defRPr>
            </a:pPr>
            <a:r>
              <a:rPr sz="2250">
                <a:solidFill>
                  <a:srgbClr val="DCE7F2"/>
                </a:solidFill>
              </a:rPr>
              <a:t>A campus equipment reservation platform with approval workflow, scheduling, notifications, and layered Spring Boot architecture.</a:t>
            </a:r>
          </a:p>
        </p:txBody>
      </p:sp>
      <p:sp>
        <p:nvSpPr>
          <p:cNvPr id="5" name="cover-footer">
            <a:extLst xmlns:a="http://schemas.openxmlformats.org/drawingml/2006/main">
              <a:ext uri="{FF2B5EF4-FFF2-40B4-BE49-F238E27FC236}">
                <a16:creationId xmlns:a16="http://schemas.microsoft.com/office/drawing/2014/main" id="{D52A0471-BA3B-4D32-8EE6-34E324C9B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029700"/>
            <a:ext cx="72199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BFD0DF"/>
                </a:solidFill>
              </a:defRPr>
            </a:pPr>
            <a:r>
              <a:rPr sz="1350">
                <a:solidFill>
                  <a:srgbClr val="BFD0DF"/>
                </a:solidFill>
              </a:rPr>
              <a:t>Backend focus: controllers, services, repositories, JPA entities, validation, scheduling, and business rules.</a:t>
            </a:r>
          </a:p>
        </p:txBody>
      </p:sp>
    </p:spTree>
    <p:extLst>
      <p:ext uri="{BB962C8B-B14F-4D97-AF65-F5344CB8AC3E}">
        <p14:creationId xmlns:p14="http://schemas.microsoft.com/office/powerpoint/2010/main" val="25083987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0E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-project-idea">
            <a:extLst xmlns:a="http://schemas.openxmlformats.org/drawingml/2006/main">
              <a:ext uri="{FF2B5EF4-FFF2-40B4-BE49-F238E27FC236}">
                <a16:creationId xmlns:a16="http://schemas.microsoft.com/office/drawing/2014/main" id="{DF96B5D5-A1A9-492E-8207-91B99434F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723900"/>
            <a:ext cx="9906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E68158"/>
                </a:solidFill>
              </a:defRPr>
            </a:pPr>
            <a:r>
              <a:rPr sz="1350" b="1">
                <a:solidFill>
                  <a:srgbClr val="E68158"/>
                </a:solidFill>
              </a:rPr>
              <a:t>PROJECT IDEA</a:t>
            </a:r>
          </a:p>
        </p:txBody>
      </p:sp>
      <p:sp>
        <p:nvSpPr>
          <p:cNvPr id="2" name="problem-heading">
            <a:extLst xmlns:a="http://schemas.openxmlformats.org/drawingml/2006/main">
              <a:ext uri="{FF2B5EF4-FFF2-40B4-BE49-F238E27FC236}">
                <a16:creationId xmlns:a16="http://schemas.microsoft.com/office/drawing/2014/main" id="{3834788C-D04D-43CF-B1A2-75F159558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085850"/>
            <a:ext cx="166878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2B1E18"/>
                </a:solidFill>
              </a:defRPr>
            </a:pPr>
            <a:r>
              <a:rPr sz="3450" b="1">
                <a:solidFill>
                  <a:srgbClr val="2B1E18"/>
                </a:solidFill>
              </a:rPr>
              <a:t>Why this project exists</a:t>
            </a:r>
          </a:p>
        </p:txBody>
      </p:sp>
      <p:sp>
        <p:nvSpPr>
          <p:cNvPr id="3" name="problem-subtitle">
            <a:extLst xmlns:a="http://schemas.openxmlformats.org/drawingml/2006/main">
              <a:ext uri="{FF2B5EF4-FFF2-40B4-BE49-F238E27FC236}">
                <a16:creationId xmlns:a16="http://schemas.microsoft.com/office/drawing/2014/main" id="{5D1CAC10-1CF0-4449-8E2F-06A3DF3F0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52600"/>
            <a:ext cx="118300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52616E"/>
                </a:solidFill>
              </a:defRPr>
            </a:pPr>
            <a:r>
              <a:rPr sz="2100">
                <a:solidFill>
                  <a:srgbClr val="52616E"/>
                </a:solidFill>
              </a:rPr>
              <a:t>Universities share expensive resources, but manual borrowing creates stock confusion, late returns, and weak traceability.</a:t>
            </a:r>
          </a:p>
        </p:txBody>
      </p:sp>
      <p:sp>
        <p:nvSpPr>
          <p:cNvPr id="4" name="problem-card">
            <a:extLst xmlns:a="http://schemas.openxmlformats.org/drawingml/2006/main">
              <a:ext uri="{FF2B5EF4-FFF2-40B4-BE49-F238E27FC236}">
                <a16:creationId xmlns:a16="http://schemas.microsoft.com/office/drawing/2014/main" id="{6A34125A-BC8B-430E-951F-D70B25C1A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0"/>
            <a:ext cx="8968740" cy="6896100"/>
          </a:xfrm>
          <a:prstGeom xmlns:a="http://schemas.openxmlformats.org/drawingml/2006/main" prst="roundRect">
            <a:avLst>
              <a:gd name="adj" fmla="val 3591"/>
            </a:avLst>
          </a:prstGeom>
          <a:solidFill xmlns:a="http://schemas.openxmlformats.org/drawingml/2006/main">
            <a:srgbClr val="FFFDFC"/>
          </a:solidFill>
        </p:spPr>
      </p:sp>
      <p:sp>
        <p:nvSpPr>
          <p:cNvPr id="5" name="problem-card-heading">
            <a:extLst xmlns:a="http://schemas.openxmlformats.org/drawingml/2006/main">
              <a:ext uri="{FF2B5EF4-FFF2-40B4-BE49-F238E27FC236}">
                <a16:creationId xmlns:a16="http://schemas.microsoft.com/office/drawing/2014/main" id="{80F9C768-51CD-4080-B0ED-7B4395E14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95600"/>
            <a:ext cx="85153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2B1E18"/>
                </a:solidFill>
              </a:defRPr>
            </a:pPr>
            <a:r>
              <a:rPr sz="1950" b="1">
                <a:solidFill>
                  <a:srgbClr val="2B1E18"/>
                </a:solidFill>
              </a:rPr>
              <a:t>What the system solves</a:t>
            </a:r>
          </a:p>
        </p:txBody>
      </p:sp>
      <p:sp>
        <p:nvSpPr>
          <p:cNvPr id="6" name="problem-card-body">
            <a:extLst xmlns:a="http://schemas.openxmlformats.org/drawingml/2006/main">
              <a:ext uri="{FF2B5EF4-FFF2-40B4-BE49-F238E27FC236}">
                <a16:creationId xmlns:a16="http://schemas.microsoft.com/office/drawing/2014/main" id="{BF9C4356-7844-4304-AEA0-311C12A1D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333750"/>
            <a:ext cx="851535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2616E"/>
                </a:solidFill>
              </a:defRPr>
            </a:pPr>
            <a:r>
              <a:rPr sz="1575">
                <a:solidFill>
                  <a:srgbClr val="52616E"/>
                </a:solidFill>
              </a:rPr>
              <a:t>Students request cameras, projectors, and embedded kits through a dedicated portal.</a:t>
            </a:r>
          </a:p>
          <a:p xmlns:a="http://schemas.openxmlformats.org/drawingml/2006/main">
            <a:pPr>
              <a:defRPr sz="1575">
                <a:solidFill>
                  <a:srgbClr val="52616E"/>
                </a:solidFill>
              </a:defRPr>
            </a:pPr>
            <a:r>
              <a:rPr sz="1575">
                <a:solidFill>
                  <a:srgbClr val="52616E"/>
                </a:solidFill>
              </a:rPr>
              <a:t>Admins review and approve requests instead of giving equipment immediately.</a:t>
            </a:r>
          </a:p>
          <a:p xmlns:a="http://schemas.openxmlformats.org/drawingml/2006/main">
            <a:pPr>
              <a:defRPr sz="1575">
                <a:solidFill>
                  <a:srgbClr val="52616E"/>
                </a:solidFill>
              </a:defRPr>
            </a:pPr>
            <a:r>
              <a:rPr sz="1575">
                <a:solidFill>
                  <a:srgbClr val="52616E"/>
                </a:solidFill>
              </a:rPr>
              <a:t>The backend tracks stock, due dates, returns, and overdue cases.</a:t>
            </a:r>
          </a:p>
        </p:txBody>
      </p:sp>
      <p:sp>
        <p:nvSpPr>
          <p:cNvPr id="7" name="value-card">
            <a:extLst xmlns:a="http://schemas.openxmlformats.org/drawingml/2006/main">
              <a:ext uri="{FF2B5EF4-FFF2-40B4-BE49-F238E27FC236}">
                <a16:creationId xmlns:a16="http://schemas.microsoft.com/office/drawing/2014/main" id="{D36A8255-C6E5-4AEF-BA85-0B1FFB72B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9840" y="2667000"/>
            <a:ext cx="7338060" cy="6896100"/>
          </a:xfrm>
          <a:prstGeom xmlns:a="http://schemas.openxmlformats.org/drawingml/2006/main" prst="roundRect">
            <a:avLst>
              <a:gd name="adj" fmla="val 3591"/>
            </a:avLst>
          </a:prstGeom>
          <a:solidFill xmlns:a="http://schemas.openxmlformats.org/drawingml/2006/main">
            <a:srgbClr val="FFFDFC"/>
          </a:solidFill>
        </p:spPr>
      </p:sp>
      <p:sp>
        <p:nvSpPr>
          <p:cNvPr id="8" name="value-card-heading">
            <a:extLst xmlns:a="http://schemas.openxmlformats.org/drawingml/2006/main">
              <a:ext uri="{FF2B5EF4-FFF2-40B4-BE49-F238E27FC236}">
                <a16:creationId xmlns:a16="http://schemas.microsoft.com/office/drawing/2014/main" id="{BDAF465A-C8F3-43E4-9081-E438A454E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895600"/>
            <a:ext cx="68770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2B1E18"/>
                </a:solidFill>
              </a:defRPr>
            </a:pPr>
            <a:r>
              <a:rPr sz="1950" b="1">
                <a:solidFill>
                  <a:srgbClr val="2B1E18"/>
                </a:solidFill>
              </a:rPr>
              <a:t>Why it is stronger than CRUD</a:t>
            </a:r>
          </a:p>
        </p:txBody>
      </p:sp>
      <p:sp>
        <p:nvSpPr>
          <p:cNvPr id="9" name="value-card-body">
            <a:extLst xmlns:a="http://schemas.openxmlformats.org/drawingml/2006/main">
              <a:ext uri="{FF2B5EF4-FFF2-40B4-BE49-F238E27FC236}">
                <a16:creationId xmlns:a16="http://schemas.microsoft.com/office/drawing/2014/main" id="{F393B27D-1C8D-41F6-B4A8-2C9E4183A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333750"/>
            <a:ext cx="6877050" cy="971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2616E"/>
                </a:solidFill>
              </a:defRPr>
            </a:pPr>
            <a:r>
              <a:rPr sz="1575">
                <a:solidFill>
                  <a:srgbClr val="52616E"/>
                </a:solidFill>
              </a:rPr>
              <a:t>Two roles: student and administrator.</a:t>
            </a:r>
          </a:p>
          <a:p xmlns:a="http://schemas.openxmlformats.org/drawingml/2006/main">
            <a:pPr>
              <a:defRPr sz="1575">
                <a:solidFill>
                  <a:srgbClr val="52616E"/>
                </a:solidFill>
              </a:defRPr>
            </a:pPr>
            <a:r>
              <a:rPr sz="1575">
                <a:solidFill>
                  <a:srgbClr val="52616E"/>
                </a:solidFill>
              </a:rPr>
              <a:t>Reservation lifecycle with approval logic.</a:t>
            </a:r>
          </a:p>
          <a:p xmlns:a="http://schemas.openxmlformats.org/drawingml/2006/main">
            <a:pPr>
              <a:defRPr sz="1575">
                <a:solidFill>
                  <a:srgbClr val="52616E"/>
                </a:solidFill>
              </a:defRPr>
            </a:pPr>
            <a:r>
              <a:rPr sz="1575">
                <a:solidFill>
                  <a:srgbClr val="52616E"/>
                </a:solidFill>
              </a:rPr>
              <a:t>Scheduled notifications before and after deadlines.</a:t>
            </a:r>
          </a:p>
          <a:p xmlns:a="http://schemas.openxmlformats.org/drawingml/2006/main">
            <a:pPr>
              <a:defRPr sz="1575">
                <a:solidFill>
                  <a:srgbClr val="52616E"/>
                </a:solidFill>
              </a:defRPr>
            </a:pPr>
            <a:r>
              <a:rPr sz="1575">
                <a:solidFill>
                  <a:srgbClr val="52616E"/>
                </a:solidFill>
              </a:rPr>
              <a:t>Separation between API contract and persistence model.</a:t>
            </a:r>
          </a:p>
        </p:txBody>
      </p:sp>
    </p:spTree>
    <p:extLst>
      <p:ext uri="{BB962C8B-B14F-4D97-AF65-F5344CB8AC3E}">
        <p14:creationId xmlns:p14="http://schemas.microsoft.com/office/powerpoint/2010/main" val="173364249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D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-system-architecture">
            <a:extLst xmlns:a="http://schemas.openxmlformats.org/drawingml/2006/main">
              <a:ext uri="{FF2B5EF4-FFF2-40B4-BE49-F238E27FC236}">
                <a16:creationId xmlns:a16="http://schemas.microsoft.com/office/drawing/2014/main" id="{C0322C7E-B896-459D-8C6A-DCA641BB1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85800"/>
            <a:ext cx="16687800" cy="1828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E68158"/>
                </a:solidFill>
              </a:defRPr>
            </a:pPr>
            <a:r>
              <a:rPr sz="1350" b="1">
                <a:solidFill>
                  <a:srgbClr val="E68158"/>
                </a:solidFill>
              </a:rPr>
              <a:t>SYSTEM ARCHITECTURE</a:t>
            </a:r>
          </a:p>
        </p:txBody>
      </p:sp>
      <p:sp>
        <p:nvSpPr>
          <p:cNvPr id="2" name="architecture-title">
            <a:extLst xmlns:a="http://schemas.openxmlformats.org/drawingml/2006/main">
              <a:ext uri="{FF2B5EF4-FFF2-40B4-BE49-F238E27FC236}">
                <a16:creationId xmlns:a16="http://schemas.microsoft.com/office/drawing/2014/main" id="{784CCD0D-1DEB-4B11-8023-E36AD4DFF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24150"/>
            <a:ext cx="16687800" cy="2152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2B1E18"/>
                </a:solidFill>
              </a:defRPr>
            </a:pPr>
            <a:r>
              <a:rPr sz="3450" b="1">
                <a:solidFill>
                  <a:srgbClr val="2B1E18"/>
                </a:solidFill>
              </a:rPr>
              <a:t>Frontend and backend are fully separated</a:t>
            </a:r>
          </a:p>
        </p:txBody>
      </p:sp>
      <p:sp>
        <p:nvSpPr>
          <p:cNvPr id="3" name="arch-frontend">
            <a:extLst xmlns:a="http://schemas.openxmlformats.org/drawingml/2006/main">
              <a:ext uri="{FF2B5EF4-FFF2-40B4-BE49-F238E27FC236}">
                <a16:creationId xmlns:a16="http://schemas.microsoft.com/office/drawing/2014/main" id="{02DFEDBB-9EBC-4566-9772-6E4C46365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092065"/>
            <a:ext cx="5397500" cy="1608773"/>
          </a:xfrm>
          <a:prstGeom xmlns:a="http://schemas.openxmlformats.org/drawingml/2006/main" prst="roundRect">
            <a:avLst>
              <a:gd name="adj" fmla="val 15394"/>
            </a:avLst>
          </a:prstGeom>
          <a:solidFill xmlns:a="http://schemas.openxmlformats.org/drawingml/2006/main">
            <a:srgbClr val="FDF8F3"/>
          </a:solidFill>
        </p:spPr>
      </p:sp>
      <p:sp>
        <p:nvSpPr>
          <p:cNvPr id="4" name="arch-frontend-heading">
            <a:extLst xmlns:a="http://schemas.openxmlformats.org/drawingml/2006/main">
              <a:ext uri="{FF2B5EF4-FFF2-40B4-BE49-F238E27FC236}">
                <a16:creationId xmlns:a16="http://schemas.microsoft.com/office/drawing/2014/main" id="{7BE49CAE-5999-4912-97BB-1D7F37571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314950"/>
            <a:ext cx="49339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2B1E18"/>
                </a:solidFill>
              </a:defRPr>
            </a:pPr>
            <a:r>
              <a:rPr sz="1950" b="1">
                <a:solidFill>
                  <a:srgbClr val="2B1E18"/>
                </a:solidFill>
              </a:rPr>
              <a:t>Frontend</a:t>
            </a:r>
          </a:p>
        </p:txBody>
      </p:sp>
      <p:sp>
        <p:nvSpPr>
          <p:cNvPr id="5" name="arch-frontend-body">
            <a:extLst xmlns:a="http://schemas.openxmlformats.org/drawingml/2006/main">
              <a:ext uri="{FF2B5EF4-FFF2-40B4-BE49-F238E27FC236}">
                <a16:creationId xmlns:a16="http://schemas.microsoft.com/office/drawing/2014/main" id="{CFF79336-198A-4B51-BBDB-0F03E60C7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53100"/>
            <a:ext cx="493395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2616E"/>
                </a:solidFill>
              </a:defRPr>
            </a:pPr>
            <a:r>
              <a:rPr sz="1575">
                <a:solidFill>
                  <a:srgbClr val="52616E"/>
                </a:solidFill>
              </a:rPr>
              <a:t>React SPA</a:t>
            </a:r>
          </a:p>
          <a:p xmlns:a="http://schemas.openxmlformats.org/drawingml/2006/main">
            <a:pPr>
              <a:defRPr sz="1575">
                <a:solidFill>
                  <a:srgbClr val="52616E"/>
                </a:solidFill>
              </a:defRPr>
            </a:pPr>
            <a:r>
              <a:rPr sz="1575">
                <a:solidFill>
                  <a:srgbClr val="52616E"/>
                </a:solidFill>
              </a:rPr>
              <a:t>Student and admin portals</a:t>
            </a:r>
          </a:p>
          <a:p xmlns:a="http://schemas.openxmlformats.org/drawingml/2006/main">
            <a:pPr>
              <a:defRPr sz="1575">
                <a:solidFill>
                  <a:srgbClr val="52616E"/>
                </a:solidFill>
              </a:defRPr>
            </a:pPr>
            <a:r>
              <a:rPr sz="1575">
                <a:solidFill>
                  <a:srgbClr val="52616E"/>
                </a:solidFill>
              </a:rPr>
              <a:t>Calls REST endpoints</a:t>
            </a:r>
          </a:p>
        </p:txBody>
      </p:sp>
      <p:sp>
        <p:nvSpPr>
          <p:cNvPr id="6" name="arch-backend">
            <a:extLst xmlns:a="http://schemas.openxmlformats.org/drawingml/2006/main">
              <a:ext uri="{FF2B5EF4-FFF2-40B4-BE49-F238E27FC236}">
                <a16:creationId xmlns:a16="http://schemas.microsoft.com/office/drawing/2014/main" id="{0C28F5CF-CD87-4E7F-A696-AE8E66106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5250" y="5092065"/>
            <a:ext cx="5397500" cy="1608773"/>
          </a:xfrm>
          <a:prstGeom xmlns:a="http://schemas.openxmlformats.org/drawingml/2006/main" prst="roundRect">
            <a:avLst>
              <a:gd name="adj" fmla="val 15394"/>
            </a:avLst>
          </a:prstGeom>
          <a:solidFill xmlns:a="http://schemas.openxmlformats.org/drawingml/2006/main">
            <a:srgbClr val="E8EEF4"/>
          </a:solidFill>
        </p:spPr>
      </p:sp>
      <p:sp>
        <p:nvSpPr>
          <p:cNvPr id="7" name="arch-backend-heading">
            <a:extLst xmlns:a="http://schemas.openxmlformats.org/drawingml/2006/main">
              <a:ext uri="{FF2B5EF4-FFF2-40B4-BE49-F238E27FC236}">
                <a16:creationId xmlns:a16="http://schemas.microsoft.com/office/drawing/2014/main" id="{BEB405B7-9D7F-4D7B-821C-2DD2B601F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314950"/>
            <a:ext cx="49339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2B1E18"/>
                </a:solidFill>
              </a:defRPr>
            </a:pPr>
            <a:r>
              <a:rPr sz="1950" b="1">
                <a:solidFill>
                  <a:srgbClr val="2B1E18"/>
                </a:solidFill>
              </a:rPr>
              <a:t>Spring Boot API</a:t>
            </a:r>
          </a:p>
        </p:txBody>
      </p:sp>
      <p:sp>
        <p:nvSpPr>
          <p:cNvPr id="8" name="arch-backend-body">
            <a:extLst xmlns:a="http://schemas.openxmlformats.org/drawingml/2006/main">
              <a:ext uri="{FF2B5EF4-FFF2-40B4-BE49-F238E27FC236}">
                <a16:creationId xmlns:a16="http://schemas.microsoft.com/office/drawing/2014/main" id="{27CD1B15-3213-4723-9668-98280D64D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753100"/>
            <a:ext cx="493395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2616E"/>
                </a:solidFill>
              </a:defRPr>
            </a:pPr>
            <a:r>
              <a:rPr sz="1575">
                <a:solidFill>
                  <a:srgbClr val="52616E"/>
                </a:solidFill>
              </a:rPr>
              <a:t>Controllers expose JSON</a:t>
            </a:r>
          </a:p>
          <a:p xmlns:a="http://schemas.openxmlformats.org/drawingml/2006/main">
            <a:pPr>
              <a:defRPr sz="1575">
                <a:solidFill>
                  <a:srgbClr val="52616E"/>
                </a:solidFill>
              </a:defRPr>
            </a:pPr>
            <a:r>
              <a:rPr sz="1575">
                <a:solidFill>
                  <a:srgbClr val="52616E"/>
                </a:solidFill>
              </a:rPr>
              <a:t>Services hold business rules</a:t>
            </a:r>
          </a:p>
          <a:p xmlns:a="http://schemas.openxmlformats.org/drawingml/2006/main">
            <a:pPr>
              <a:defRPr sz="1575">
                <a:solidFill>
                  <a:srgbClr val="52616E"/>
                </a:solidFill>
              </a:defRPr>
            </a:pPr>
            <a:r>
              <a:rPr sz="1575">
                <a:solidFill>
                  <a:srgbClr val="52616E"/>
                </a:solidFill>
              </a:rPr>
              <a:t>Repositories use JPA and H2</a:t>
            </a:r>
          </a:p>
        </p:txBody>
      </p:sp>
      <p:sp>
        <p:nvSpPr>
          <p:cNvPr id="9" name="arch-db">
            <a:extLst xmlns:a="http://schemas.openxmlformats.org/drawingml/2006/main">
              <a:ext uri="{FF2B5EF4-FFF2-40B4-BE49-F238E27FC236}">
                <a16:creationId xmlns:a16="http://schemas.microsoft.com/office/drawing/2014/main" id="{92EC7892-A7A5-4B15-B5CA-55CE2EC0D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0400" y="5092065"/>
            <a:ext cx="5397500" cy="1608773"/>
          </a:xfrm>
          <a:prstGeom xmlns:a="http://schemas.openxmlformats.org/drawingml/2006/main" prst="roundRect">
            <a:avLst>
              <a:gd name="adj" fmla="val 15394"/>
            </a:avLst>
          </a:prstGeom>
          <a:solidFill xmlns:a="http://schemas.openxmlformats.org/drawingml/2006/main">
            <a:srgbClr val="F7FBF8"/>
          </a:solidFill>
        </p:spPr>
      </p:sp>
      <p:sp>
        <p:nvSpPr>
          <p:cNvPr id="10" name="arch-db-heading">
            <a:extLst xmlns:a="http://schemas.openxmlformats.org/drawingml/2006/main">
              <a:ext uri="{FF2B5EF4-FFF2-40B4-BE49-F238E27FC236}">
                <a16:creationId xmlns:a16="http://schemas.microsoft.com/office/drawing/2014/main" id="{40167DE2-B2F9-4701-A979-D6B85C040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25350" y="5314950"/>
            <a:ext cx="49339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2B1E18"/>
                </a:solidFill>
              </a:defRPr>
            </a:pPr>
            <a:r>
              <a:rPr sz="1950" b="1">
                <a:solidFill>
                  <a:srgbClr val="2B1E18"/>
                </a:solidFill>
              </a:rPr>
              <a:t>Persistence and automation</a:t>
            </a:r>
          </a:p>
        </p:txBody>
      </p:sp>
      <p:sp>
        <p:nvSpPr>
          <p:cNvPr id="11" name="arch-db-body">
            <a:extLst xmlns:a="http://schemas.openxmlformats.org/drawingml/2006/main">
              <a:ext uri="{FF2B5EF4-FFF2-40B4-BE49-F238E27FC236}">
                <a16:creationId xmlns:a16="http://schemas.microsoft.com/office/drawing/2014/main" id="{3F7242D0-6DD1-45CE-98EE-E96451067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25350" y="5753100"/>
            <a:ext cx="493395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2616E"/>
                </a:solidFill>
              </a:defRPr>
            </a:pPr>
            <a:r>
              <a:rPr sz="1575">
                <a:solidFill>
                  <a:srgbClr val="52616E"/>
                </a:solidFill>
              </a:rPr>
              <a:t>H2 in-memory database</a:t>
            </a:r>
          </a:p>
          <a:p xmlns:a="http://schemas.openxmlformats.org/drawingml/2006/main">
            <a:pPr>
              <a:defRPr sz="1575">
                <a:solidFill>
                  <a:srgbClr val="52616E"/>
                </a:solidFill>
              </a:defRPr>
            </a:pPr>
            <a:r>
              <a:rPr sz="1575">
                <a:solidFill>
                  <a:srgbClr val="52616E"/>
                </a:solidFill>
              </a:rPr>
              <a:t>Seed data at startup</a:t>
            </a:r>
          </a:p>
          <a:p xmlns:a="http://schemas.openxmlformats.org/drawingml/2006/main">
            <a:pPr>
              <a:defRPr sz="1575">
                <a:solidFill>
                  <a:srgbClr val="52616E"/>
                </a:solidFill>
              </a:defRPr>
            </a:pPr>
            <a:r>
              <a:rPr sz="1575">
                <a:solidFill>
                  <a:srgbClr val="52616E"/>
                </a:solidFill>
              </a:rPr>
              <a:t>Scheduled return reminders</a:t>
            </a:r>
          </a:p>
        </p:txBody>
      </p:sp>
      <p:sp>
        <p:nvSpPr>
          <p:cNvPr id="12" name="arch-rule">
            <a:extLst xmlns:a="http://schemas.openxmlformats.org/drawingml/2006/main">
              <a:ext uri="{FF2B5EF4-FFF2-40B4-BE49-F238E27FC236}">
                <a16:creationId xmlns:a16="http://schemas.microsoft.com/office/drawing/2014/main" id="{50889C3D-F990-4987-9C8D-2B92D3321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934200"/>
            <a:ext cx="16687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CFBC"/>
          </a:solidFill>
          <a:ln xmlns:a="http://schemas.openxmlformats.org/drawingml/2006/main" w="0">
            <a:solidFill>
              <a:srgbClr val="DCCFBC"/>
            </a:solidFill>
            <a:prstDash val="solid"/>
          </a:ln>
        </p:spPr>
      </p:sp>
      <p:sp>
        <p:nvSpPr>
          <p:cNvPr id="13" name="architecture-bullets">
            <a:extLst xmlns:a="http://schemas.openxmlformats.org/drawingml/2006/main">
              <a:ext uri="{FF2B5EF4-FFF2-40B4-BE49-F238E27FC236}">
                <a16:creationId xmlns:a16="http://schemas.microsoft.com/office/drawing/2014/main" id="{887900FC-0D3E-49B4-B407-B2B43B201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7105650"/>
            <a:ext cx="1668780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52616E"/>
                </a:solidFill>
              </a:defRPr>
            </a:pPr>
            <a:r>
              <a:rPr sz="1950">
                <a:solidFill>
                  <a:srgbClr val="52616E"/>
                </a:solidFill>
              </a:rPr>
              <a:t>• Spring Boot is used only as a REST backend, not as server-side MVC views.</a:t>
            </a:r>
          </a:p>
          <a:p xmlns:a="http://schemas.openxmlformats.org/drawingml/2006/main">
            <a:pPr>
              <a:defRPr sz="1950">
                <a:solidFill>
                  <a:srgbClr val="52616E"/>
                </a:solidFill>
              </a:defRPr>
            </a:pPr>
            <a:r>
              <a:rPr sz="1950">
                <a:solidFill>
                  <a:srgbClr val="52616E"/>
                </a:solidFill>
              </a:rPr>
              <a:t>• The frontend authenticates users and consumes JSON data through the API.</a:t>
            </a:r>
          </a:p>
          <a:p xmlns:a="http://schemas.openxmlformats.org/drawingml/2006/main">
            <a:pPr>
              <a:defRPr sz="1950">
                <a:solidFill>
                  <a:srgbClr val="52616E"/>
                </a:solidFill>
              </a:defRPr>
            </a:pPr>
            <a:r>
              <a:rPr sz="1950">
                <a:solidFill>
                  <a:srgbClr val="52616E"/>
                </a:solidFill>
              </a:rPr>
              <a:t>• This decoupled structure makes the backend reusable by any future Angular, React, or mobile client.</a:t>
            </a:r>
          </a:p>
        </p:txBody>
      </p:sp>
    </p:spTree>
    <p:extLst>
      <p:ext uri="{BB962C8B-B14F-4D97-AF65-F5344CB8AC3E}">
        <p14:creationId xmlns:p14="http://schemas.microsoft.com/office/powerpoint/2010/main" val="101320925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0E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-spring-boot-structure">
            <a:extLst xmlns:a="http://schemas.openxmlformats.org/drawingml/2006/main">
              <a:ext uri="{FF2B5EF4-FFF2-40B4-BE49-F238E27FC236}">
                <a16:creationId xmlns:a16="http://schemas.microsoft.com/office/drawing/2014/main" id="{7CEE982D-3DCE-488A-9056-E12C835C2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85800"/>
            <a:ext cx="1866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E68158"/>
                </a:solidFill>
              </a:defRPr>
            </a:pPr>
            <a:r>
              <a:rPr sz="1350" b="1">
                <a:solidFill>
                  <a:srgbClr val="E68158"/>
                </a:solidFill>
              </a:rPr>
              <a:t>SPRING BOOT STRUCTURE</a:t>
            </a:r>
          </a:p>
        </p:txBody>
      </p:sp>
      <p:sp>
        <p:nvSpPr>
          <p:cNvPr id="2" name="package-title">
            <a:extLst xmlns:a="http://schemas.openxmlformats.org/drawingml/2006/main">
              <a:ext uri="{FF2B5EF4-FFF2-40B4-BE49-F238E27FC236}">
                <a16:creationId xmlns:a16="http://schemas.microsoft.com/office/drawing/2014/main" id="{CE5E8BC6-5647-4A3A-B477-FD6749500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028700"/>
            <a:ext cx="166878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2B1E18"/>
                </a:solidFill>
              </a:defRPr>
            </a:pPr>
            <a:r>
              <a:rPr sz="3450" b="1">
                <a:solidFill>
                  <a:srgbClr val="2B1E18"/>
                </a:solidFill>
              </a:rPr>
              <a:t>Backend package map and responsibilities</a:t>
            </a:r>
          </a:p>
        </p:txBody>
      </p:sp>
      <p:sp>
        <p:nvSpPr>
          <p:cNvPr id="3" name="package-1">
            <a:extLst xmlns:a="http://schemas.openxmlformats.org/drawingml/2006/main">
              <a:ext uri="{FF2B5EF4-FFF2-40B4-BE49-F238E27FC236}">
                <a16:creationId xmlns:a16="http://schemas.microsoft.com/office/drawing/2014/main" id="{2F623A7F-C54D-4DDF-8855-FA507C4B4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17370"/>
            <a:ext cx="5384800" cy="7783830"/>
          </a:xfrm>
          <a:prstGeom xmlns:a="http://schemas.openxmlformats.org/drawingml/2006/main" prst="roundRect">
            <a:avLst>
              <a:gd name="adj" fmla="val 4599"/>
            </a:avLst>
          </a:prstGeom>
          <a:solidFill xmlns:a="http://schemas.openxmlformats.org/drawingml/2006/main">
            <a:srgbClr val="FFFDFC"/>
          </a:solidFill>
        </p:spPr>
      </p:sp>
      <p:sp>
        <p:nvSpPr>
          <p:cNvPr id="4" name="package-1-heading">
            <a:extLst xmlns:a="http://schemas.openxmlformats.org/drawingml/2006/main">
              <a:ext uri="{FF2B5EF4-FFF2-40B4-BE49-F238E27FC236}">
                <a16:creationId xmlns:a16="http://schemas.microsoft.com/office/drawing/2014/main" id="{8DFB2451-46C3-4708-B8AC-AB05EB3BC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038350"/>
            <a:ext cx="49339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2B1E18"/>
                </a:solidFill>
              </a:defRPr>
            </a:pPr>
            <a:r>
              <a:rPr sz="1950" b="1">
                <a:solidFill>
                  <a:srgbClr val="2B1E18"/>
                </a:solidFill>
              </a:rPr>
              <a:t>Entry, config, and exceptions</a:t>
            </a:r>
          </a:p>
        </p:txBody>
      </p:sp>
      <p:sp>
        <p:nvSpPr>
          <p:cNvPr id="5" name="package-1-body">
            <a:extLst xmlns:a="http://schemas.openxmlformats.org/drawingml/2006/main">
              <a:ext uri="{FF2B5EF4-FFF2-40B4-BE49-F238E27FC236}">
                <a16:creationId xmlns:a16="http://schemas.microsoft.com/office/drawing/2014/main" id="{DC6E8C9D-EB07-43B3-8287-C376F1370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76500"/>
            <a:ext cx="4933950" cy="1200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2616E"/>
                </a:solidFill>
              </a:defRPr>
            </a:pPr>
            <a:r>
              <a:rPr sz="1575">
                <a:solidFill>
                  <a:srgbClr val="52616E"/>
                </a:solidFill>
              </a:rPr>
              <a:t>CampusResourceHubBackendApplication</a:t>
            </a:r>
          </a:p>
          <a:p xmlns:a="http://schemas.openxmlformats.org/drawingml/2006/main">
            <a:pPr>
              <a:defRPr sz="1575">
                <a:solidFill>
                  <a:srgbClr val="52616E"/>
                </a:solidFill>
              </a:defRPr>
            </a:pPr>
            <a:r>
              <a:rPr sz="1575">
                <a:solidFill>
                  <a:srgbClr val="52616E"/>
                </a:solidFill>
              </a:rPr>
              <a:t>AppProperties</a:t>
            </a:r>
          </a:p>
          <a:p xmlns:a="http://schemas.openxmlformats.org/drawingml/2006/main">
            <a:pPr>
              <a:defRPr sz="1575">
                <a:solidFill>
                  <a:srgbClr val="52616E"/>
                </a:solidFill>
              </a:defRPr>
            </a:pPr>
            <a:r>
              <a:rPr sz="1575">
                <a:solidFill>
                  <a:srgbClr val="52616E"/>
                </a:solidFill>
              </a:rPr>
              <a:t>CorsConfig</a:t>
            </a:r>
          </a:p>
          <a:p xmlns:a="http://schemas.openxmlformats.org/drawingml/2006/main">
            <a:pPr>
              <a:defRPr sz="1575">
                <a:solidFill>
                  <a:srgbClr val="52616E"/>
                </a:solidFill>
              </a:defRPr>
            </a:pPr>
            <a:r>
              <a:rPr sz="1575">
                <a:solidFill>
                  <a:srgbClr val="52616E"/>
                </a:solidFill>
              </a:rPr>
              <a:t>DataSeeder</a:t>
            </a:r>
          </a:p>
          <a:p xmlns:a="http://schemas.openxmlformats.org/drawingml/2006/main">
            <a:pPr>
              <a:defRPr sz="1575">
                <a:solidFill>
                  <a:srgbClr val="52616E"/>
                </a:solidFill>
              </a:defRPr>
            </a:pPr>
            <a:r>
              <a:rPr sz="1575">
                <a:solidFill>
                  <a:srgbClr val="52616E"/>
                </a:solidFill>
              </a:rPr>
              <a:t>GlobalExceptionHandler</a:t>
            </a:r>
          </a:p>
        </p:txBody>
      </p:sp>
      <p:sp>
        <p:nvSpPr>
          <p:cNvPr id="6" name="package-2">
            <a:extLst xmlns:a="http://schemas.openxmlformats.org/drawingml/2006/main">
              <a:ext uri="{FF2B5EF4-FFF2-40B4-BE49-F238E27FC236}">
                <a16:creationId xmlns:a16="http://schemas.microsoft.com/office/drawing/2014/main" id="{7D6E611D-DCBE-44DB-97BC-DA2C9F3B8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1600" y="1817370"/>
            <a:ext cx="5384800" cy="7783830"/>
          </a:xfrm>
          <a:prstGeom xmlns:a="http://schemas.openxmlformats.org/drawingml/2006/main" prst="roundRect">
            <a:avLst>
              <a:gd name="adj" fmla="val 4599"/>
            </a:avLst>
          </a:prstGeom>
          <a:solidFill xmlns:a="http://schemas.openxmlformats.org/drawingml/2006/main">
            <a:srgbClr val="F6FBFF"/>
          </a:solidFill>
        </p:spPr>
      </p:sp>
      <p:sp>
        <p:nvSpPr>
          <p:cNvPr id="7" name="package-2-heading">
            <a:extLst xmlns:a="http://schemas.openxmlformats.org/drawingml/2006/main">
              <a:ext uri="{FF2B5EF4-FFF2-40B4-BE49-F238E27FC236}">
                <a16:creationId xmlns:a16="http://schemas.microsoft.com/office/drawing/2014/main" id="{6056F404-CFC6-4C45-9880-5DC975019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038350"/>
            <a:ext cx="49339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2B1E18"/>
                </a:solidFill>
              </a:defRPr>
            </a:pPr>
            <a:r>
              <a:rPr sz="1950" b="1">
                <a:solidFill>
                  <a:srgbClr val="2B1E18"/>
                </a:solidFill>
              </a:rPr>
              <a:t>API and contracts</a:t>
            </a:r>
          </a:p>
        </p:txBody>
      </p:sp>
      <p:sp>
        <p:nvSpPr>
          <p:cNvPr id="8" name="package-2-body">
            <a:extLst xmlns:a="http://schemas.openxmlformats.org/drawingml/2006/main">
              <a:ext uri="{FF2B5EF4-FFF2-40B4-BE49-F238E27FC236}">
                <a16:creationId xmlns:a16="http://schemas.microsoft.com/office/drawing/2014/main" id="{F37E722D-893D-4F70-B4C9-DFE79735B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476500"/>
            <a:ext cx="4933950" cy="1200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2616E"/>
                </a:solidFill>
              </a:defRPr>
            </a:pPr>
            <a:r>
              <a:rPr sz="1575">
                <a:solidFill>
                  <a:srgbClr val="52616E"/>
                </a:solidFill>
              </a:rPr>
              <a:t>controller/</a:t>
            </a:r>
          </a:p>
          <a:p xmlns:a="http://schemas.openxmlformats.org/drawingml/2006/main">
            <a:pPr>
              <a:defRPr sz="1575">
                <a:solidFill>
                  <a:srgbClr val="52616E"/>
                </a:solidFill>
              </a:defRPr>
            </a:pPr>
            <a:r>
              <a:rPr sz="1575">
                <a:solidFill>
                  <a:srgbClr val="52616E"/>
                </a:solidFill>
              </a:rPr>
              <a:t>dto/request/</a:t>
            </a:r>
          </a:p>
          <a:p xmlns:a="http://schemas.openxmlformats.org/drawingml/2006/main">
            <a:pPr>
              <a:defRPr sz="1575">
                <a:solidFill>
                  <a:srgbClr val="52616E"/>
                </a:solidFill>
              </a:defRPr>
            </a:pPr>
            <a:r>
              <a:rPr sz="1575">
                <a:solidFill>
                  <a:srgbClr val="52616E"/>
                </a:solidFill>
              </a:rPr>
              <a:t>dto/response/</a:t>
            </a:r>
          </a:p>
          <a:p xmlns:a="http://schemas.openxmlformats.org/drawingml/2006/main">
            <a:pPr>
              <a:defRPr sz="1575">
                <a:solidFill>
                  <a:srgbClr val="52616E"/>
                </a:solidFill>
              </a:defRPr>
            </a:pPr>
            <a:r>
              <a:rPr sz="1575">
                <a:solidFill>
                  <a:srgbClr val="52616E"/>
                </a:solidFill>
              </a:rPr>
              <a:t>ResponseEntity return style</a:t>
            </a:r>
          </a:p>
          <a:p xmlns:a="http://schemas.openxmlformats.org/drawingml/2006/main">
            <a:pPr>
              <a:defRPr sz="1575">
                <a:solidFill>
                  <a:srgbClr val="52616E"/>
                </a:solidFill>
              </a:defRPr>
            </a:pPr>
            <a:r>
              <a:rPr sz="1575">
                <a:solidFill>
                  <a:srgbClr val="52616E"/>
                </a:solidFill>
              </a:rPr>
              <a:t>@Valid for request validation</a:t>
            </a:r>
          </a:p>
        </p:txBody>
      </p:sp>
      <p:sp>
        <p:nvSpPr>
          <p:cNvPr id="9" name="package-3">
            <a:extLst xmlns:a="http://schemas.openxmlformats.org/drawingml/2006/main">
              <a:ext uri="{FF2B5EF4-FFF2-40B4-BE49-F238E27FC236}">
                <a16:creationId xmlns:a16="http://schemas.microsoft.com/office/drawing/2014/main" id="{99D31813-2A49-4531-A72C-8C0ADD03E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03100" y="1817370"/>
            <a:ext cx="5384800" cy="7783830"/>
          </a:xfrm>
          <a:prstGeom xmlns:a="http://schemas.openxmlformats.org/drawingml/2006/main" prst="roundRect">
            <a:avLst>
              <a:gd name="adj" fmla="val 4599"/>
            </a:avLst>
          </a:prstGeom>
          <a:solidFill xmlns:a="http://schemas.openxmlformats.org/drawingml/2006/main">
            <a:srgbClr val="FBF8F4"/>
          </a:solidFill>
        </p:spPr>
      </p:sp>
      <p:sp>
        <p:nvSpPr>
          <p:cNvPr id="10" name="package-3-heading">
            <a:extLst xmlns:a="http://schemas.openxmlformats.org/drawingml/2006/main">
              <a:ext uri="{FF2B5EF4-FFF2-40B4-BE49-F238E27FC236}">
                <a16:creationId xmlns:a16="http://schemas.microsoft.com/office/drawing/2014/main" id="{42AFAE51-0EAB-43AB-B45A-7CF37C42A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25350" y="2038350"/>
            <a:ext cx="49339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2B1E18"/>
                </a:solidFill>
              </a:defRPr>
            </a:pPr>
            <a:r>
              <a:rPr sz="1950" b="1">
                <a:solidFill>
                  <a:srgbClr val="2B1E18"/>
                </a:solidFill>
              </a:rPr>
              <a:t>Domain and data</a:t>
            </a:r>
          </a:p>
        </p:txBody>
      </p:sp>
      <p:sp>
        <p:nvSpPr>
          <p:cNvPr id="11" name="package-3-body">
            <a:extLst xmlns:a="http://schemas.openxmlformats.org/drawingml/2006/main">
              <a:ext uri="{FF2B5EF4-FFF2-40B4-BE49-F238E27FC236}">
                <a16:creationId xmlns:a16="http://schemas.microsoft.com/office/drawing/2014/main" id="{17D1961B-859B-4325-93ED-E0A8A02D6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25350" y="2476500"/>
            <a:ext cx="4933950" cy="1200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2616E"/>
                </a:solidFill>
              </a:defRPr>
            </a:pPr>
            <a:r>
              <a:rPr sz="1575">
                <a:solidFill>
                  <a:srgbClr val="52616E"/>
                </a:solidFill>
              </a:rPr>
              <a:t>entity/</a:t>
            </a:r>
          </a:p>
          <a:p xmlns:a="http://schemas.openxmlformats.org/drawingml/2006/main">
            <a:pPr>
              <a:defRPr sz="1575">
                <a:solidFill>
                  <a:srgbClr val="52616E"/>
                </a:solidFill>
              </a:defRPr>
            </a:pPr>
            <a:r>
              <a:rPr sz="1575">
                <a:solidFill>
                  <a:srgbClr val="52616E"/>
                </a:solidFill>
              </a:rPr>
              <a:t>repository/</a:t>
            </a:r>
          </a:p>
          <a:p xmlns:a="http://schemas.openxmlformats.org/drawingml/2006/main">
            <a:pPr>
              <a:defRPr sz="1575">
                <a:solidFill>
                  <a:srgbClr val="52616E"/>
                </a:solidFill>
              </a:defRPr>
            </a:pPr>
            <a:r>
              <a:rPr sz="1575">
                <a:solidFill>
                  <a:srgbClr val="52616E"/>
                </a:solidFill>
              </a:rPr>
              <a:t>service/</a:t>
            </a:r>
          </a:p>
          <a:p xmlns:a="http://schemas.openxmlformats.org/drawingml/2006/main">
            <a:pPr>
              <a:defRPr sz="1575">
                <a:solidFill>
                  <a:srgbClr val="52616E"/>
                </a:solidFill>
              </a:defRPr>
            </a:pPr>
            <a:r>
              <a:rPr sz="1575">
                <a:solidFill>
                  <a:srgbClr val="52616E"/>
                </a:solidFill>
              </a:rPr>
              <a:t>JPA relationships</a:t>
            </a:r>
          </a:p>
          <a:p xmlns:a="http://schemas.openxmlformats.org/drawingml/2006/main">
            <a:pPr>
              <a:defRPr sz="1575">
                <a:solidFill>
                  <a:srgbClr val="52616E"/>
                </a:solidFill>
              </a:defRPr>
            </a:pPr>
            <a:r>
              <a:rPr sz="1575">
                <a:solidFill>
                  <a:srgbClr val="52616E"/>
                </a:solidFill>
              </a:rPr>
              <a:t>Business rules and status transitions</a:t>
            </a:r>
          </a:p>
        </p:txBody>
      </p:sp>
    </p:spTree>
    <p:extLst>
      <p:ext uri="{BB962C8B-B14F-4D97-AF65-F5344CB8AC3E}">
        <p14:creationId xmlns:p14="http://schemas.microsoft.com/office/powerpoint/2010/main" val="54725195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D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-jpa-domain-model">
            <a:extLst xmlns:a="http://schemas.openxmlformats.org/drawingml/2006/main">
              <a:ext uri="{FF2B5EF4-FFF2-40B4-BE49-F238E27FC236}">
                <a16:creationId xmlns:a16="http://schemas.microsoft.com/office/drawing/2014/main" id="{86CC4A00-21BA-4ACF-8995-38F9247D7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85800"/>
            <a:ext cx="14859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E68158"/>
                </a:solidFill>
              </a:defRPr>
            </a:pPr>
            <a:r>
              <a:rPr sz="1350" b="1">
                <a:solidFill>
                  <a:srgbClr val="E68158"/>
                </a:solidFill>
              </a:rPr>
              <a:t>JPA DOMAIN MODEL</a:t>
            </a:r>
          </a:p>
        </p:txBody>
      </p:sp>
      <p:sp>
        <p:nvSpPr>
          <p:cNvPr id="2" name="entity-title">
            <a:extLst xmlns:a="http://schemas.openxmlformats.org/drawingml/2006/main">
              <a:ext uri="{FF2B5EF4-FFF2-40B4-BE49-F238E27FC236}">
                <a16:creationId xmlns:a16="http://schemas.microsoft.com/office/drawing/2014/main" id="{E28D3959-47FB-4C80-A637-60C9B2297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238250"/>
            <a:ext cx="166878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2B1E18"/>
                </a:solidFill>
              </a:defRPr>
            </a:pPr>
            <a:r>
              <a:rPr sz="3450" b="1">
                <a:solidFill>
                  <a:srgbClr val="2B1E18"/>
                </a:solidFill>
              </a:rPr>
              <a:t>Entities and relationships</a:t>
            </a:r>
          </a:p>
        </p:txBody>
      </p:sp>
      <p:sp>
        <p:nvSpPr>
          <p:cNvPr id="3" name="entity-subtitle">
            <a:extLst xmlns:a="http://schemas.openxmlformats.org/drawingml/2006/main">
              <a:ext uri="{FF2B5EF4-FFF2-40B4-BE49-F238E27FC236}">
                <a16:creationId xmlns:a16="http://schemas.microsoft.com/office/drawing/2014/main" id="{26BCECAC-E5A3-47AD-8C65-5A2D43B77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85950"/>
            <a:ext cx="93154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16E"/>
                </a:solidFill>
              </a:defRPr>
            </a:pPr>
            <a:r>
              <a:rPr sz="1800">
                <a:solidFill>
                  <a:srgbClr val="52616E"/>
                </a:solidFill>
              </a:rPr>
              <a:t>The data model follows the real borrowing process instead of storing everything in a single flat table.</a:t>
            </a:r>
          </a:p>
        </p:txBody>
      </p:sp>
      <p:sp>
        <p:nvSpPr>
          <p:cNvPr id="4" name="entity-student">
            <a:extLst xmlns:a="http://schemas.openxmlformats.org/drawingml/2006/main">
              <a:ext uri="{FF2B5EF4-FFF2-40B4-BE49-F238E27FC236}">
                <a16:creationId xmlns:a16="http://schemas.microsoft.com/office/drawing/2014/main" id="{23C2B009-F69D-411A-8C50-19A2727DB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11730"/>
            <a:ext cx="5384800" cy="6690360"/>
          </a:xfrm>
          <a:prstGeom xmlns:a="http://schemas.openxmlformats.org/drawingml/2006/main" prst="roundRect">
            <a:avLst>
              <a:gd name="adj" fmla="val 4599"/>
            </a:avLst>
          </a:prstGeom>
          <a:solidFill xmlns:a="http://schemas.openxmlformats.org/drawingml/2006/main">
            <a:srgbClr val="FFFDFC"/>
          </a:solidFill>
        </p:spPr>
      </p:sp>
      <p:sp>
        <p:nvSpPr>
          <p:cNvPr id="5" name="entity-student-heading">
            <a:extLst xmlns:a="http://schemas.openxmlformats.org/drawingml/2006/main">
              <a:ext uri="{FF2B5EF4-FFF2-40B4-BE49-F238E27FC236}">
                <a16:creationId xmlns:a16="http://schemas.microsoft.com/office/drawing/2014/main" id="{5937E1A6-AA81-421E-8823-28B3D903D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647950"/>
            <a:ext cx="49339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2B1E18"/>
                </a:solidFill>
              </a:defRPr>
            </a:pPr>
            <a:r>
              <a:rPr sz="1950" b="1">
                <a:solidFill>
                  <a:srgbClr val="2B1E18"/>
                </a:solidFill>
              </a:rPr>
              <a:t>Student side</a:t>
            </a:r>
          </a:p>
        </p:txBody>
      </p:sp>
      <p:sp>
        <p:nvSpPr>
          <p:cNvPr id="6" name="entity-student-body">
            <a:extLst xmlns:a="http://schemas.openxmlformats.org/drawingml/2006/main">
              <a:ext uri="{FF2B5EF4-FFF2-40B4-BE49-F238E27FC236}">
                <a16:creationId xmlns:a16="http://schemas.microsoft.com/office/drawing/2014/main" id="{6ECC4F56-8D39-48CD-AC77-20A722F50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067050"/>
            <a:ext cx="4933950" cy="1200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2616E"/>
                </a:solidFill>
              </a:defRPr>
            </a:pPr>
            <a:r>
              <a:rPr sz="1575">
                <a:solidFill>
                  <a:srgbClr val="52616E"/>
                </a:solidFill>
              </a:rPr>
              <a:t>Student</a:t>
            </a:r>
          </a:p>
          <a:p xmlns:a="http://schemas.openxmlformats.org/drawingml/2006/main">
            <a:pPr>
              <a:defRPr sz="1575">
                <a:solidFill>
                  <a:srgbClr val="52616E"/>
                </a:solidFill>
              </a:defRPr>
            </a:pPr>
            <a:r>
              <a:rPr sz="1575">
                <a:solidFill>
                  <a:srgbClr val="52616E"/>
                </a:solidFill>
              </a:rPr>
              <a:t>StudentProfile</a:t>
            </a:r>
          </a:p>
          <a:p xmlns:a="http://schemas.openxmlformats.org/drawingml/2006/main">
            <a:pPr>
              <a:defRPr sz="1575">
                <a:solidFill>
                  <a:srgbClr val="52616E"/>
                </a:solidFill>
              </a:defRPr>
            </a:pPr>
            <a:r>
              <a:rPr sz="1575">
                <a:solidFill>
                  <a:srgbClr val="52616E"/>
                </a:solidFill>
              </a:rPr>
              <a:t>One-to-one relation</a:t>
            </a:r>
          </a:p>
          <a:p xmlns:a="http://schemas.openxmlformats.org/drawingml/2006/main">
            <a:pPr>
              <a:defRPr sz="1575">
                <a:solidFill>
                  <a:srgbClr val="52616E"/>
                </a:solidFill>
              </a:defRPr>
            </a:pPr>
            <a:r>
              <a:rPr sz="1575">
                <a:solidFill>
                  <a:srgbClr val="52616E"/>
                </a:solidFill>
              </a:rPr>
              <a:t>Login fields stay in Student</a:t>
            </a:r>
          </a:p>
          <a:p xmlns:a="http://schemas.openxmlformats.org/drawingml/2006/main">
            <a:pPr>
              <a:defRPr sz="1575">
                <a:solidFill>
                  <a:srgbClr val="52616E"/>
                </a:solidFill>
              </a:defRPr>
            </a:pPr>
            <a:r>
              <a:rPr sz="1575">
                <a:solidFill>
                  <a:srgbClr val="52616E"/>
                </a:solidFill>
              </a:rPr>
              <a:t>Personal details stay in StudentProfile</a:t>
            </a:r>
          </a:p>
        </p:txBody>
      </p:sp>
      <p:sp>
        <p:nvSpPr>
          <p:cNvPr id="7" name="entity-resource">
            <a:extLst xmlns:a="http://schemas.openxmlformats.org/drawingml/2006/main">
              <a:ext uri="{FF2B5EF4-FFF2-40B4-BE49-F238E27FC236}">
                <a16:creationId xmlns:a16="http://schemas.microsoft.com/office/drawing/2014/main" id="{1E959AB5-6F5C-4717-81D3-0116A44E2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1600" y="2411730"/>
            <a:ext cx="5384800" cy="6690360"/>
          </a:xfrm>
          <a:prstGeom xmlns:a="http://schemas.openxmlformats.org/drawingml/2006/main" prst="roundRect">
            <a:avLst>
              <a:gd name="adj" fmla="val 4599"/>
            </a:avLst>
          </a:prstGeom>
          <a:solidFill xmlns:a="http://schemas.openxmlformats.org/drawingml/2006/main">
            <a:srgbClr val="E8EEF4"/>
          </a:solidFill>
        </p:spPr>
      </p:sp>
      <p:sp>
        <p:nvSpPr>
          <p:cNvPr id="8" name="entity-resource-heading">
            <a:extLst xmlns:a="http://schemas.openxmlformats.org/drawingml/2006/main">
              <a:ext uri="{FF2B5EF4-FFF2-40B4-BE49-F238E27FC236}">
                <a16:creationId xmlns:a16="http://schemas.microsoft.com/office/drawing/2014/main" id="{BB6158C9-14B1-49CD-9B5E-1BFDAACF0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647950"/>
            <a:ext cx="49339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2B1E18"/>
                </a:solidFill>
              </a:defRPr>
            </a:pPr>
            <a:r>
              <a:rPr sz="1950" b="1">
                <a:solidFill>
                  <a:srgbClr val="2B1E18"/>
                </a:solidFill>
              </a:rPr>
              <a:t>Inventory side</a:t>
            </a:r>
          </a:p>
        </p:txBody>
      </p:sp>
      <p:sp>
        <p:nvSpPr>
          <p:cNvPr id="9" name="entity-resource-body">
            <a:extLst xmlns:a="http://schemas.openxmlformats.org/drawingml/2006/main">
              <a:ext uri="{FF2B5EF4-FFF2-40B4-BE49-F238E27FC236}">
                <a16:creationId xmlns:a16="http://schemas.microsoft.com/office/drawing/2014/main" id="{CE1D6587-2D93-48E9-AE59-8419F82AB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067050"/>
            <a:ext cx="4933950" cy="1200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2616E"/>
                </a:solidFill>
              </a:defRPr>
            </a:pPr>
            <a:r>
              <a:rPr sz="1575">
                <a:solidFill>
                  <a:srgbClr val="52616E"/>
                </a:solidFill>
              </a:rPr>
              <a:t>Resource</a:t>
            </a:r>
          </a:p>
          <a:p xmlns:a="http://schemas.openxmlformats.org/drawingml/2006/main">
            <a:pPr>
              <a:defRPr sz="1575">
                <a:solidFill>
                  <a:srgbClr val="52616E"/>
                </a:solidFill>
              </a:defRPr>
            </a:pPr>
            <a:r>
              <a:rPr sz="1575">
                <a:solidFill>
                  <a:srgbClr val="52616E"/>
                </a:solidFill>
              </a:rPr>
              <a:t>ResourceTag</a:t>
            </a:r>
          </a:p>
          <a:p xmlns:a="http://schemas.openxmlformats.org/drawingml/2006/main">
            <a:pPr>
              <a:defRPr sz="1575">
                <a:solidFill>
                  <a:srgbClr val="52616E"/>
                </a:solidFill>
              </a:defRPr>
            </a:pPr>
            <a:r>
              <a:rPr sz="1575">
                <a:solidFill>
                  <a:srgbClr val="52616E"/>
                </a:solidFill>
              </a:rPr>
              <a:t>Many-to-many tag mapping</a:t>
            </a:r>
          </a:p>
          <a:p xmlns:a="http://schemas.openxmlformats.org/drawingml/2006/main">
            <a:pPr>
              <a:defRPr sz="1575">
                <a:solidFill>
                  <a:srgbClr val="52616E"/>
                </a:solidFill>
              </a:defRPr>
            </a:pPr>
            <a:r>
              <a:rPr sz="1575">
                <a:solidFill>
                  <a:srgbClr val="52616E"/>
                </a:solidFill>
              </a:rPr>
              <a:t>Asset code uniqueness</a:t>
            </a:r>
          </a:p>
          <a:p xmlns:a="http://schemas.openxmlformats.org/drawingml/2006/main">
            <a:pPr>
              <a:defRPr sz="1575">
                <a:solidFill>
                  <a:srgbClr val="52616E"/>
                </a:solidFill>
              </a:defRPr>
            </a:pPr>
            <a:r>
              <a:rPr sz="1575">
                <a:solidFill>
                  <a:srgbClr val="52616E"/>
                </a:solidFill>
              </a:rPr>
              <a:t>Quantity represents available stock</a:t>
            </a:r>
          </a:p>
        </p:txBody>
      </p:sp>
      <p:sp>
        <p:nvSpPr>
          <p:cNvPr id="10" name="entity-flow">
            <a:extLst xmlns:a="http://schemas.openxmlformats.org/drawingml/2006/main">
              <a:ext uri="{FF2B5EF4-FFF2-40B4-BE49-F238E27FC236}">
                <a16:creationId xmlns:a16="http://schemas.microsoft.com/office/drawing/2014/main" id="{5A08B136-9E86-43F9-B17C-578BDEFC8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03100" y="2411730"/>
            <a:ext cx="5384800" cy="6690360"/>
          </a:xfrm>
          <a:prstGeom xmlns:a="http://schemas.openxmlformats.org/drawingml/2006/main" prst="roundRect">
            <a:avLst>
              <a:gd name="adj" fmla="val 4599"/>
            </a:avLst>
          </a:prstGeom>
          <a:solidFill xmlns:a="http://schemas.openxmlformats.org/drawingml/2006/main">
            <a:srgbClr val="F7FBF8"/>
          </a:solidFill>
        </p:spPr>
      </p:sp>
      <p:sp>
        <p:nvSpPr>
          <p:cNvPr id="11" name="entity-flow-heading">
            <a:extLst xmlns:a="http://schemas.openxmlformats.org/drawingml/2006/main">
              <a:ext uri="{FF2B5EF4-FFF2-40B4-BE49-F238E27FC236}">
                <a16:creationId xmlns:a16="http://schemas.microsoft.com/office/drawing/2014/main" id="{277304A3-DEEC-4985-85D1-04DDE829D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25350" y="2647950"/>
            <a:ext cx="49339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2B1E18"/>
                </a:solidFill>
              </a:defRPr>
            </a:pPr>
            <a:r>
              <a:rPr sz="1950" b="1">
                <a:solidFill>
                  <a:srgbClr val="2B1E18"/>
                </a:solidFill>
              </a:rPr>
              <a:t>Process side</a:t>
            </a:r>
          </a:p>
        </p:txBody>
      </p:sp>
      <p:sp>
        <p:nvSpPr>
          <p:cNvPr id="12" name="entity-flow-body">
            <a:extLst xmlns:a="http://schemas.openxmlformats.org/drawingml/2006/main">
              <a:ext uri="{FF2B5EF4-FFF2-40B4-BE49-F238E27FC236}">
                <a16:creationId xmlns:a16="http://schemas.microsoft.com/office/drawing/2014/main" id="{2EBD108F-268D-4B23-9B97-490328F77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25350" y="3067050"/>
            <a:ext cx="4933950" cy="1200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2616E"/>
                </a:solidFill>
              </a:defRPr>
            </a:pPr>
            <a:r>
              <a:rPr sz="1575">
                <a:solidFill>
                  <a:srgbClr val="52616E"/>
                </a:solidFill>
              </a:rPr>
              <a:t>Reservation</a:t>
            </a:r>
          </a:p>
          <a:p xmlns:a="http://schemas.openxmlformats.org/drawingml/2006/main">
            <a:pPr>
              <a:defRPr sz="1575">
                <a:solidFill>
                  <a:srgbClr val="52616E"/>
                </a:solidFill>
              </a:defRPr>
            </a:pPr>
            <a:r>
              <a:rPr sz="1575">
                <a:solidFill>
                  <a:srgbClr val="52616E"/>
                </a:solidFill>
              </a:rPr>
              <a:t>Notification</a:t>
            </a:r>
          </a:p>
          <a:p xmlns:a="http://schemas.openxmlformats.org/drawingml/2006/main">
            <a:pPr>
              <a:defRPr sz="1575">
                <a:solidFill>
                  <a:srgbClr val="52616E"/>
                </a:solidFill>
              </a:defRPr>
            </a:pPr>
            <a:r>
              <a:rPr sz="1575">
                <a:solidFill>
                  <a:srgbClr val="52616E"/>
                </a:solidFill>
              </a:rPr>
              <a:t>Reservation -&gt; Student many-to-one</a:t>
            </a:r>
          </a:p>
          <a:p xmlns:a="http://schemas.openxmlformats.org/drawingml/2006/main">
            <a:pPr>
              <a:defRPr sz="1575">
                <a:solidFill>
                  <a:srgbClr val="52616E"/>
                </a:solidFill>
              </a:defRPr>
            </a:pPr>
            <a:r>
              <a:rPr sz="1575">
                <a:solidFill>
                  <a:srgbClr val="52616E"/>
                </a:solidFill>
              </a:rPr>
              <a:t>Reservation -&gt; Resource many-to-one</a:t>
            </a:r>
          </a:p>
          <a:p xmlns:a="http://schemas.openxmlformats.org/drawingml/2006/main">
            <a:pPr>
              <a:defRPr sz="1575">
                <a:solidFill>
                  <a:srgbClr val="52616E"/>
                </a:solidFill>
              </a:defRPr>
            </a:pPr>
            <a:r>
              <a:rPr sz="1575">
                <a:solidFill>
                  <a:srgbClr val="52616E"/>
                </a:solidFill>
              </a:rPr>
              <a:t>Notification linked to both student and reservation</a:t>
            </a:r>
          </a:p>
        </p:txBody>
      </p:sp>
      <p:sp>
        <p:nvSpPr>
          <p:cNvPr id="13" name="entity-note">
            <a:extLst xmlns:a="http://schemas.openxmlformats.org/drawingml/2006/main">
              <a:ext uri="{FF2B5EF4-FFF2-40B4-BE49-F238E27FC236}">
                <a16:creationId xmlns:a16="http://schemas.microsoft.com/office/drawing/2014/main" id="{9370AF09-5C09-4623-AA4F-050827D90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9353550"/>
            <a:ext cx="166878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2616E"/>
                </a:solidFill>
              </a:defRPr>
            </a:pPr>
            <a:r>
              <a:rPr sz="1650">
                <a:solidFill>
                  <a:srgbClr val="52616E"/>
                </a:solidFill>
              </a:rPr>
              <a:t>This separation improves normalization, avoids repeated profile data, and makes the model easier to extend later.</a:t>
            </a:r>
          </a:p>
        </p:txBody>
      </p:sp>
    </p:spTree>
    <p:extLst>
      <p:ext uri="{BB962C8B-B14F-4D97-AF65-F5344CB8AC3E}">
        <p14:creationId xmlns:p14="http://schemas.microsoft.com/office/powerpoint/2010/main" val="75989257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0E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-request-lifecycle">
            <a:extLst xmlns:a="http://schemas.openxmlformats.org/drawingml/2006/main">
              <a:ext uri="{FF2B5EF4-FFF2-40B4-BE49-F238E27FC236}">
                <a16:creationId xmlns:a16="http://schemas.microsoft.com/office/drawing/2014/main" id="{7FD76EB9-C7B3-4FA0-809E-6DE462D5F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85800"/>
            <a:ext cx="13906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E68158"/>
                </a:solidFill>
              </a:defRPr>
            </a:pPr>
            <a:r>
              <a:rPr sz="1350" b="1">
                <a:solidFill>
                  <a:srgbClr val="E68158"/>
                </a:solidFill>
              </a:rPr>
              <a:t>REQUEST LIFECYCLE</a:t>
            </a:r>
          </a:p>
        </p:txBody>
      </p:sp>
      <p:sp>
        <p:nvSpPr>
          <p:cNvPr id="2" name="request-title">
            <a:extLst xmlns:a="http://schemas.openxmlformats.org/drawingml/2006/main">
              <a:ext uri="{FF2B5EF4-FFF2-40B4-BE49-F238E27FC236}">
                <a16:creationId xmlns:a16="http://schemas.microsoft.com/office/drawing/2014/main" id="{598E68A6-4C26-4D43-8F6A-91A16FBC2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238250"/>
            <a:ext cx="166878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2B1E18"/>
                </a:solidFill>
              </a:defRPr>
            </a:pPr>
            <a:r>
              <a:rPr sz="3450" b="1">
                <a:solidFill>
                  <a:srgbClr val="2B1E18"/>
                </a:solidFill>
              </a:rPr>
              <a:t>How one API request moves through Spring Boot</a:t>
            </a:r>
          </a:p>
        </p:txBody>
      </p:sp>
      <p:sp>
        <p:nvSpPr>
          <p:cNvPr id="3" name="request-controller">
            <a:extLst xmlns:a="http://schemas.openxmlformats.org/drawingml/2006/main">
              <a:ext uri="{FF2B5EF4-FFF2-40B4-BE49-F238E27FC236}">
                <a16:creationId xmlns:a16="http://schemas.microsoft.com/office/drawing/2014/main" id="{2226D012-1F25-4BBC-AC31-3E621FF25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85010"/>
            <a:ext cx="9000173" cy="3712845"/>
          </a:xfrm>
          <a:prstGeom xmlns:a="http://schemas.openxmlformats.org/drawingml/2006/main" prst="roundRect">
            <a:avLst>
              <a:gd name="adj" fmla="val 6670"/>
            </a:avLst>
          </a:prstGeom>
          <a:solidFill xmlns:a="http://schemas.openxmlformats.org/drawingml/2006/main">
            <a:srgbClr val="FFFDFC"/>
          </a:solidFill>
        </p:spPr>
      </p:sp>
      <p:sp>
        <p:nvSpPr>
          <p:cNvPr id="4" name="request-controller-heading">
            <a:extLst xmlns:a="http://schemas.openxmlformats.org/drawingml/2006/main">
              <a:ext uri="{FF2B5EF4-FFF2-40B4-BE49-F238E27FC236}">
                <a16:creationId xmlns:a16="http://schemas.microsoft.com/office/drawing/2014/main" id="{D70EFD88-4D66-4E3F-803D-75C76FF2C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09800"/>
            <a:ext cx="85344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2B1E18"/>
                </a:solidFill>
              </a:defRPr>
            </a:pPr>
            <a:r>
              <a:rPr sz="1950" b="1">
                <a:solidFill>
                  <a:srgbClr val="2B1E18"/>
                </a:solidFill>
              </a:rPr>
              <a:t>1. Controller</a:t>
            </a:r>
          </a:p>
        </p:txBody>
      </p:sp>
      <p:sp>
        <p:nvSpPr>
          <p:cNvPr id="5" name="request-controller-body">
            <a:extLst xmlns:a="http://schemas.openxmlformats.org/drawingml/2006/main">
              <a:ext uri="{FF2B5EF4-FFF2-40B4-BE49-F238E27FC236}">
                <a16:creationId xmlns:a16="http://schemas.microsoft.com/office/drawing/2014/main" id="{A76D0034-C1EB-411F-872D-1D0FB9065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647950"/>
            <a:ext cx="85344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2616E"/>
                </a:solidFill>
              </a:defRPr>
            </a:pPr>
            <a:r>
              <a:rPr sz="1575">
                <a:solidFill>
                  <a:srgbClr val="52616E"/>
                </a:solidFill>
              </a:rPr>
              <a:t>Receives HTTP request</a:t>
            </a:r>
          </a:p>
          <a:p xmlns:a="http://schemas.openxmlformats.org/drawingml/2006/main">
            <a:pPr>
              <a:defRPr sz="1575">
                <a:solidFill>
                  <a:srgbClr val="52616E"/>
                </a:solidFill>
              </a:defRPr>
            </a:pPr>
            <a:r>
              <a:rPr sz="1575">
                <a:solidFill>
                  <a:srgbClr val="52616E"/>
                </a:solidFill>
              </a:rPr>
              <a:t>Uses @RequestMapping and @PostMapping</a:t>
            </a:r>
          </a:p>
          <a:p xmlns:a="http://schemas.openxmlformats.org/drawingml/2006/main">
            <a:pPr>
              <a:defRPr sz="1575">
                <a:solidFill>
                  <a:srgbClr val="52616E"/>
                </a:solidFill>
              </a:defRPr>
            </a:pPr>
            <a:r>
              <a:rPr sz="1575">
                <a:solidFill>
                  <a:srgbClr val="52616E"/>
                </a:solidFill>
              </a:rPr>
              <a:t>Applies @Valid to DTO input</a:t>
            </a:r>
          </a:p>
        </p:txBody>
      </p:sp>
      <p:sp>
        <p:nvSpPr>
          <p:cNvPr id="6" name="request-service">
            <a:extLst xmlns:a="http://schemas.openxmlformats.org/drawingml/2006/main">
              <a:ext uri="{FF2B5EF4-FFF2-40B4-BE49-F238E27FC236}">
                <a16:creationId xmlns:a16="http://schemas.microsoft.com/office/drawing/2014/main" id="{D268A0D1-6778-42A8-9B2B-6A179231F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88355"/>
            <a:ext cx="9000173" cy="3712845"/>
          </a:xfrm>
          <a:prstGeom xmlns:a="http://schemas.openxmlformats.org/drawingml/2006/main" prst="roundRect">
            <a:avLst>
              <a:gd name="adj" fmla="val 6670"/>
            </a:avLst>
          </a:prstGeom>
          <a:solidFill xmlns:a="http://schemas.openxmlformats.org/drawingml/2006/main">
            <a:srgbClr val="FFFDFC"/>
          </a:solidFill>
        </p:spPr>
      </p:sp>
      <p:sp>
        <p:nvSpPr>
          <p:cNvPr id="7" name="request-service-heading">
            <a:extLst xmlns:a="http://schemas.openxmlformats.org/drawingml/2006/main">
              <a:ext uri="{FF2B5EF4-FFF2-40B4-BE49-F238E27FC236}">
                <a16:creationId xmlns:a16="http://schemas.microsoft.com/office/drawing/2014/main" id="{D5A56336-435F-4584-BC01-BB3559BC1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115050"/>
            <a:ext cx="85344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2B1E18"/>
                </a:solidFill>
              </a:defRPr>
            </a:pPr>
            <a:r>
              <a:rPr sz="1950" b="1">
                <a:solidFill>
                  <a:srgbClr val="2B1E18"/>
                </a:solidFill>
              </a:rPr>
              <a:t>2. Service</a:t>
            </a:r>
          </a:p>
        </p:txBody>
      </p:sp>
      <p:sp>
        <p:nvSpPr>
          <p:cNvPr id="8" name="request-service-body">
            <a:extLst xmlns:a="http://schemas.openxmlformats.org/drawingml/2006/main">
              <a:ext uri="{FF2B5EF4-FFF2-40B4-BE49-F238E27FC236}">
                <a16:creationId xmlns:a16="http://schemas.microsoft.com/office/drawing/2014/main" id="{78C99C8A-63C2-421E-8C5F-195BBA216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553200"/>
            <a:ext cx="8534400" cy="971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2616E"/>
                </a:solidFill>
              </a:defRPr>
            </a:pPr>
            <a:r>
              <a:rPr sz="1575">
                <a:solidFill>
                  <a:srgbClr val="52616E"/>
                </a:solidFill>
              </a:rPr>
              <a:t>Checks business rules</a:t>
            </a:r>
          </a:p>
          <a:p xmlns:a="http://schemas.openxmlformats.org/drawingml/2006/main">
            <a:pPr>
              <a:defRPr sz="1575">
                <a:solidFill>
                  <a:srgbClr val="52616E"/>
                </a:solidFill>
              </a:defRPr>
            </a:pPr>
            <a:r>
              <a:rPr sz="1575">
                <a:solidFill>
                  <a:srgbClr val="52616E"/>
                </a:solidFill>
              </a:rPr>
              <a:t>Finds student and resource</a:t>
            </a:r>
          </a:p>
          <a:p xmlns:a="http://schemas.openxmlformats.org/drawingml/2006/main">
            <a:pPr>
              <a:defRPr sz="1575">
                <a:solidFill>
                  <a:srgbClr val="52616E"/>
                </a:solidFill>
              </a:defRPr>
            </a:pPr>
            <a:r>
              <a:rPr sz="1575">
                <a:solidFill>
                  <a:srgbClr val="52616E"/>
                </a:solidFill>
              </a:rPr>
              <a:t>Validates capacity and dates</a:t>
            </a:r>
          </a:p>
          <a:p xmlns:a="http://schemas.openxmlformats.org/drawingml/2006/main">
            <a:pPr>
              <a:defRPr sz="1575">
                <a:solidFill>
                  <a:srgbClr val="52616E"/>
                </a:solidFill>
              </a:defRPr>
            </a:pPr>
            <a:r>
              <a:rPr sz="1575">
                <a:solidFill>
                  <a:srgbClr val="52616E"/>
                </a:solidFill>
              </a:rPr>
              <a:t>Creates or updates reservation state</a:t>
            </a:r>
          </a:p>
        </p:txBody>
      </p:sp>
      <p:sp>
        <p:nvSpPr>
          <p:cNvPr id="9" name="request-repo">
            <a:extLst xmlns:a="http://schemas.openxmlformats.org/drawingml/2006/main">
              <a:ext uri="{FF2B5EF4-FFF2-40B4-BE49-F238E27FC236}">
                <a16:creationId xmlns:a16="http://schemas.microsoft.com/office/drawing/2014/main" id="{F9697338-07D0-4523-AE4C-3F7047E6B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4123" y="1985010"/>
            <a:ext cx="7363778" cy="3712845"/>
          </a:xfrm>
          <a:prstGeom xmlns:a="http://schemas.openxmlformats.org/drawingml/2006/main" prst="roundRect">
            <a:avLst>
              <a:gd name="adj" fmla="val 6670"/>
            </a:avLst>
          </a:prstGeom>
          <a:solidFill xmlns:a="http://schemas.openxmlformats.org/drawingml/2006/main">
            <a:srgbClr val="E8EEF4"/>
          </a:solidFill>
        </p:spPr>
      </p:sp>
      <p:sp>
        <p:nvSpPr>
          <p:cNvPr id="10" name="request-repo-heading">
            <a:extLst xmlns:a="http://schemas.openxmlformats.org/drawingml/2006/main">
              <a:ext uri="{FF2B5EF4-FFF2-40B4-BE49-F238E27FC236}">
                <a16:creationId xmlns:a16="http://schemas.microsoft.com/office/drawing/2014/main" id="{2B5A7184-3E72-454A-9DAA-9A554F7BF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2209800"/>
            <a:ext cx="69151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2B1E18"/>
                </a:solidFill>
              </a:defRPr>
            </a:pPr>
            <a:r>
              <a:rPr sz="1950" b="1">
                <a:solidFill>
                  <a:srgbClr val="2B1E18"/>
                </a:solidFill>
              </a:rPr>
              <a:t>3. Repository</a:t>
            </a:r>
          </a:p>
        </p:txBody>
      </p:sp>
      <p:sp>
        <p:nvSpPr>
          <p:cNvPr id="11" name="request-repo-body">
            <a:extLst xmlns:a="http://schemas.openxmlformats.org/drawingml/2006/main">
              <a:ext uri="{FF2B5EF4-FFF2-40B4-BE49-F238E27FC236}">
                <a16:creationId xmlns:a16="http://schemas.microsoft.com/office/drawing/2014/main" id="{9F16DAA3-939E-4AB5-B684-10FD6659B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2647950"/>
            <a:ext cx="691515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2616E"/>
                </a:solidFill>
              </a:defRPr>
            </a:pPr>
            <a:r>
              <a:rPr sz="1575">
                <a:solidFill>
                  <a:srgbClr val="52616E"/>
                </a:solidFill>
              </a:rPr>
              <a:t>Spring Data JPA repositories execute persistence operations</a:t>
            </a:r>
          </a:p>
          <a:p xmlns:a="http://schemas.openxmlformats.org/drawingml/2006/main">
            <a:pPr>
              <a:defRPr sz="1575">
                <a:solidFill>
                  <a:srgbClr val="52616E"/>
                </a:solidFill>
              </a:defRPr>
            </a:pPr>
            <a:r>
              <a:rPr sz="1575">
                <a:solidFill>
                  <a:srgbClr val="52616E"/>
                </a:solidFill>
              </a:rPr>
              <a:t>Derived query methods avoid writing SQL for common lookups</a:t>
            </a:r>
          </a:p>
        </p:txBody>
      </p:sp>
      <p:sp>
        <p:nvSpPr>
          <p:cNvPr id="12" name="request-response">
            <a:extLst xmlns:a="http://schemas.openxmlformats.org/drawingml/2006/main">
              <a:ext uri="{FF2B5EF4-FFF2-40B4-BE49-F238E27FC236}">
                <a16:creationId xmlns:a16="http://schemas.microsoft.com/office/drawing/2014/main" id="{231D4056-CFEF-4A91-8FB6-8D5D8F1D9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4123" y="5888355"/>
            <a:ext cx="7363778" cy="3712845"/>
          </a:xfrm>
          <a:prstGeom xmlns:a="http://schemas.openxmlformats.org/drawingml/2006/main" prst="roundRect">
            <a:avLst>
              <a:gd name="adj" fmla="val 6670"/>
            </a:avLst>
          </a:prstGeom>
          <a:solidFill xmlns:a="http://schemas.openxmlformats.org/drawingml/2006/main">
            <a:srgbClr val="F8FBF7"/>
          </a:solidFill>
        </p:spPr>
      </p:sp>
      <p:sp>
        <p:nvSpPr>
          <p:cNvPr id="13" name="request-response-heading">
            <a:extLst xmlns:a="http://schemas.openxmlformats.org/drawingml/2006/main">
              <a:ext uri="{FF2B5EF4-FFF2-40B4-BE49-F238E27FC236}">
                <a16:creationId xmlns:a16="http://schemas.microsoft.com/office/drawing/2014/main" id="{859E2C57-6081-45F5-BAE0-00E0D9590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6115050"/>
            <a:ext cx="69151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2B1E18"/>
                </a:solidFill>
              </a:defRPr>
            </a:pPr>
            <a:r>
              <a:rPr sz="1950" b="1">
                <a:solidFill>
                  <a:srgbClr val="2B1E18"/>
                </a:solidFill>
              </a:rPr>
              <a:t>4. Response DTO</a:t>
            </a:r>
          </a:p>
        </p:txBody>
      </p:sp>
      <p:sp>
        <p:nvSpPr>
          <p:cNvPr id="14" name="request-response-body">
            <a:extLst xmlns:a="http://schemas.openxmlformats.org/drawingml/2006/main">
              <a:ext uri="{FF2B5EF4-FFF2-40B4-BE49-F238E27FC236}">
                <a16:creationId xmlns:a16="http://schemas.microsoft.com/office/drawing/2014/main" id="{72F3DB4A-E8D0-4A5A-B925-DDE3FE888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6553200"/>
            <a:ext cx="691515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2616E"/>
                </a:solidFill>
              </a:defRPr>
            </a:pPr>
            <a:r>
              <a:rPr sz="1575">
                <a:solidFill>
                  <a:srgbClr val="52616E"/>
                </a:solidFill>
              </a:rPr>
              <a:t>Entity is mapped to ReservationResponse</a:t>
            </a:r>
          </a:p>
          <a:p xmlns:a="http://schemas.openxmlformats.org/drawingml/2006/main">
            <a:pPr>
              <a:defRPr sz="1575">
                <a:solidFill>
                  <a:srgbClr val="52616E"/>
                </a:solidFill>
              </a:defRPr>
            </a:pPr>
            <a:r>
              <a:rPr sz="1575">
                <a:solidFill>
                  <a:srgbClr val="52616E"/>
                </a:solidFill>
              </a:rPr>
              <a:t>Frontend receives only the fields it needs</a:t>
            </a:r>
          </a:p>
          <a:p xmlns:a="http://schemas.openxmlformats.org/drawingml/2006/main">
            <a:pPr>
              <a:defRPr sz="1575">
                <a:solidFill>
                  <a:srgbClr val="52616E"/>
                </a:solidFill>
              </a:defRPr>
            </a:pPr>
            <a:r>
              <a:rPr sz="1575">
                <a:solidFill>
                  <a:srgbClr val="52616E"/>
                </a:solidFill>
              </a:rPr>
              <a:t>Validation and internal fields stay controlled</a:t>
            </a:r>
          </a:p>
        </p:txBody>
      </p:sp>
    </p:spTree>
    <p:extLst>
      <p:ext uri="{BB962C8B-B14F-4D97-AF65-F5344CB8AC3E}">
        <p14:creationId xmlns:p14="http://schemas.microsoft.com/office/powerpoint/2010/main" val="180813588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D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-reservation-logic">
            <a:extLst xmlns:a="http://schemas.openxmlformats.org/drawingml/2006/main">
              <a:ext uri="{FF2B5EF4-FFF2-40B4-BE49-F238E27FC236}">
                <a16:creationId xmlns:a16="http://schemas.microsoft.com/office/drawing/2014/main" id="{74EF47A9-C834-4A85-856B-838B80C66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85800"/>
            <a:ext cx="14478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E68158"/>
                </a:solidFill>
              </a:defRPr>
            </a:pPr>
            <a:r>
              <a:rPr sz="1350" b="1">
                <a:solidFill>
                  <a:srgbClr val="E68158"/>
                </a:solidFill>
              </a:rPr>
              <a:t>RESERVATION LOGIC</a:t>
            </a:r>
          </a:p>
        </p:txBody>
      </p:sp>
      <p:sp>
        <p:nvSpPr>
          <p:cNvPr id="2" name="workflow-heading">
            <a:extLst xmlns:a="http://schemas.openxmlformats.org/drawingml/2006/main">
              <a:ext uri="{FF2B5EF4-FFF2-40B4-BE49-F238E27FC236}">
                <a16:creationId xmlns:a16="http://schemas.microsoft.com/office/drawing/2014/main" id="{10EBD1CC-B7AE-4A62-BFE6-3E715F2F2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238250"/>
            <a:ext cx="166878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2B1E18"/>
                </a:solidFill>
              </a:defRPr>
            </a:pPr>
            <a:r>
              <a:rPr sz="3450" b="1">
                <a:solidFill>
                  <a:srgbClr val="2B1E18"/>
                </a:solidFill>
              </a:rPr>
              <a:t>This is the core business workflow</a:t>
            </a:r>
          </a:p>
        </p:txBody>
      </p:sp>
      <p:sp>
        <p:nvSpPr>
          <p:cNvPr id="3" name="workflow-student">
            <a:extLst xmlns:a="http://schemas.openxmlformats.org/drawingml/2006/main">
              <a:ext uri="{FF2B5EF4-FFF2-40B4-BE49-F238E27FC236}">
                <a16:creationId xmlns:a16="http://schemas.microsoft.com/office/drawing/2014/main" id="{893A21DD-073F-4988-B628-BDEF8876E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85010"/>
            <a:ext cx="5410200" cy="7616190"/>
          </a:xfrm>
          <a:prstGeom xmlns:a="http://schemas.openxmlformats.org/drawingml/2006/main" prst="roundRect">
            <a:avLst>
              <a:gd name="adj" fmla="val 4577"/>
            </a:avLst>
          </a:prstGeom>
          <a:solidFill xmlns:a="http://schemas.openxmlformats.org/drawingml/2006/main">
            <a:srgbClr val="FFFDFC"/>
          </a:solidFill>
        </p:spPr>
      </p:sp>
      <p:sp>
        <p:nvSpPr>
          <p:cNvPr id="4" name="workflow-student-heading">
            <a:extLst xmlns:a="http://schemas.openxmlformats.org/drawingml/2006/main">
              <a:ext uri="{FF2B5EF4-FFF2-40B4-BE49-F238E27FC236}">
                <a16:creationId xmlns:a16="http://schemas.microsoft.com/office/drawing/2014/main" id="{8F428B15-0578-4954-B585-934ED618A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09800"/>
            <a:ext cx="4953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2B1E18"/>
                </a:solidFill>
              </a:defRPr>
            </a:pPr>
            <a:r>
              <a:rPr sz="1950" b="1">
                <a:solidFill>
                  <a:srgbClr val="2B1E18"/>
                </a:solidFill>
              </a:rPr>
              <a:t>Student request</a:t>
            </a:r>
          </a:p>
        </p:txBody>
      </p:sp>
      <p:sp>
        <p:nvSpPr>
          <p:cNvPr id="5" name="workflow-student-body">
            <a:extLst xmlns:a="http://schemas.openxmlformats.org/drawingml/2006/main">
              <a:ext uri="{FF2B5EF4-FFF2-40B4-BE49-F238E27FC236}">
                <a16:creationId xmlns:a16="http://schemas.microsoft.com/office/drawing/2014/main" id="{EEAA8E5B-F9A5-49FA-98E2-27AB1363A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647950"/>
            <a:ext cx="4953000" cy="971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2616E"/>
                </a:solidFill>
              </a:defRPr>
            </a:pPr>
            <a:r>
              <a:rPr sz="1575">
                <a:solidFill>
                  <a:srgbClr val="52616E"/>
                </a:solidFill>
              </a:rPr>
              <a:t>Request starts as PENDING</a:t>
            </a:r>
          </a:p>
          <a:p xmlns:a="http://schemas.openxmlformats.org/drawingml/2006/main">
            <a:pPr>
              <a:defRPr sz="1575">
                <a:solidFill>
                  <a:srgbClr val="52616E"/>
                </a:solidFill>
              </a:defRPr>
            </a:pPr>
            <a:r>
              <a:rPr sz="1575">
                <a:solidFill>
                  <a:srgbClr val="52616E"/>
                </a:solidFill>
              </a:rPr>
              <a:t>Student must reserve at least 2 days ahead</a:t>
            </a:r>
          </a:p>
          <a:p xmlns:a="http://schemas.openxmlformats.org/drawingml/2006/main">
            <a:pPr>
              <a:defRPr sz="1575">
                <a:solidFill>
                  <a:srgbClr val="52616E"/>
                </a:solidFill>
              </a:defRPr>
            </a:pPr>
            <a:r>
              <a:rPr sz="1575">
                <a:solidFill>
                  <a:srgbClr val="52616E"/>
                </a:solidFill>
              </a:rPr>
              <a:t>Start and end dates must be weekdays</a:t>
            </a:r>
          </a:p>
          <a:p xmlns:a="http://schemas.openxmlformats.org/drawingml/2006/main">
            <a:pPr>
              <a:defRPr sz="1575">
                <a:solidFill>
                  <a:srgbClr val="52616E"/>
                </a:solidFill>
              </a:defRPr>
            </a:pPr>
            <a:r>
              <a:rPr sz="1575">
                <a:solidFill>
                  <a:srgbClr val="52616E"/>
                </a:solidFill>
              </a:rPr>
              <a:t>Reservation cannot exceed 7 weekdays</a:t>
            </a:r>
          </a:p>
        </p:txBody>
      </p:sp>
      <p:sp>
        <p:nvSpPr>
          <p:cNvPr id="6" name="workflow-admin">
            <a:extLst xmlns:a="http://schemas.openxmlformats.org/drawingml/2006/main">
              <a:ext uri="{FF2B5EF4-FFF2-40B4-BE49-F238E27FC236}">
                <a16:creationId xmlns:a16="http://schemas.microsoft.com/office/drawing/2014/main" id="{AD16E3FF-8A00-446C-96B6-22463AD4D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985010"/>
            <a:ext cx="5410200" cy="7616190"/>
          </a:xfrm>
          <a:prstGeom xmlns:a="http://schemas.openxmlformats.org/drawingml/2006/main" prst="roundRect">
            <a:avLst>
              <a:gd name="adj" fmla="val 4577"/>
            </a:avLst>
          </a:prstGeom>
          <a:solidFill xmlns:a="http://schemas.openxmlformats.org/drawingml/2006/main">
            <a:srgbClr val="E8EEF4"/>
          </a:solidFill>
        </p:spPr>
      </p:sp>
      <p:sp>
        <p:nvSpPr>
          <p:cNvPr id="7" name="workflow-admin-heading">
            <a:extLst xmlns:a="http://schemas.openxmlformats.org/drawingml/2006/main">
              <a:ext uri="{FF2B5EF4-FFF2-40B4-BE49-F238E27FC236}">
                <a16:creationId xmlns:a16="http://schemas.microsoft.com/office/drawing/2014/main" id="{D4E050C1-3F59-40EF-AD48-27C9BA1A5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09800"/>
            <a:ext cx="4953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2B1E18"/>
                </a:solidFill>
              </a:defRPr>
            </a:pPr>
            <a:r>
              <a:rPr sz="1950" b="1">
                <a:solidFill>
                  <a:srgbClr val="2B1E18"/>
                </a:solidFill>
              </a:rPr>
              <a:t>Admin approval</a:t>
            </a:r>
          </a:p>
        </p:txBody>
      </p:sp>
      <p:sp>
        <p:nvSpPr>
          <p:cNvPr id="8" name="workflow-admin-body">
            <a:extLst xmlns:a="http://schemas.openxmlformats.org/drawingml/2006/main">
              <a:ext uri="{FF2B5EF4-FFF2-40B4-BE49-F238E27FC236}">
                <a16:creationId xmlns:a16="http://schemas.microsoft.com/office/drawing/2014/main" id="{58DDCB94-598B-4E22-9626-EB6CC269C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647950"/>
            <a:ext cx="4953000" cy="971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2616E"/>
                </a:solidFill>
              </a:defRPr>
            </a:pPr>
            <a:r>
              <a:rPr sz="1575">
                <a:solidFill>
                  <a:srgbClr val="52616E"/>
                </a:solidFill>
              </a:rPr>
              <a:t>Approve pending request</a:t>
            </a:r>
          </a:p>
          <a:p xmlns:a="http://schemas.openxmlformats.org/drawingml/2006/main">
            <a:pPr>
              <a:defRPr sz="1575">
                <a:solidFill>
                  <a:srgbClr val="52616E"/>
                </a:solidFill>
              </a:defRPr>
            </a:pPr>
            <a:r>
              <a:rPr sz="1575">
                <a:solidFill>
                  <a:srgbClr val="52616E"/>
                </a:solidFill>
              </a:rPr>
              <a:t>APPROVED if start date is in the future</a:t>
            </a:r>
          </a:p>
          <a:p xmlns:a="http://schemas.openxmlformats.org/drawingml/2006/main">
            <a:pPr>
              <a:defRPr sz="1575">
                <a:solidFill>
                  <a:srgbClr val="52616E"/>
                </a:solidFill>
              </a:defRPr>
            </a:pPr>
            <a:r>
              <a:rPr sz="1575">
                <a:solidFill>
                  <a:srgbClr val="52616E"/>
                </a:solidFill>
              </a:rPr>
              <a:t>ACTIVE if start date is today</a:t>
            </a:r>
          </a:p>
          <a:p xmlns:a="http://schemas.openxmlformats.org/drawingml/2006/main">
            <a:pPr>
              <a:defRPr sz="1575">
                <a:solidFill>
                  <a:srgbClr val="52616E"/>
                </a:solidFill>
              </a:defRPr>
            </a:pPr>
            <a:r>
              <a:rPr sz="1575">
                <a:solidFill>
                  <a:srgbClr val="52616E"/>
                </a:solidFill>
              </a:rPr>
              <a:t>Stock is decremented only when active</a:t>
            </a:r>
          </a:p>
        </p:txBody>
      </p:sp>
      <p:sp>
        <p:nvSpPr>
          <p:cNvPr id="9" name="workflow-return">
            <a:extLst xmlns:a="http://schemas.openxmlformats.org/drawingml/2006/main">
              <a:ext uri="{FF2B5EF4-FFF2-40B4-BE49-F238E27FC236}">
                <a16:creationId xmlns:a16="http://schemas.microsoft.com/office/drawing/2014/main" id="{419A8E2D-2DAE-4725-803B-2EAC46DD4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7700" y="1985010"/>
            <a:ext cx="5410200" cy="7616190"/>
          </a:xfrm>
          <a:prstGeom xmlns:a="http://schemas.openxmlformats.org/drawingml/2006/main" prst="roundRect">
            <a:avLst>
              <a:gd name="adj" fmla="val 4577"/>
            </a:avLst>
          </a:prstGeom>
          <a:solidFill xmlns:a="http://schemas.openxmlformats.org/drawingml/2006/main">
            <a:srgbClr val="F7FBF8"/>
          </a:solidFill>
        </p:spPr>
      </p:sp>
      <p:sp>
        <p:nvSpPr>
          <p:cNvPr id="10" name="workflow-return-heading">
            <a:extLst xmlns:a="http://schemas.openxmlformats.org/drawingml/2006/main">
              <a:ext uri="{FF2B5EF4-FFF2-40B4-BE49-F238E27FC236}">
                <a16:creationId xmlns:a16="http://schemas.microsoft.com/office/drawing/2014/main" id="{467BC4C4-54E5-4596-BFB0-AD8A54774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06300" y="2209800"/>
            <a:ext cx="4953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2B1E18"/>
                </a:solidFill>
              </a:defRPr>
            </a:pPr>
            <a:r>
              <a:rPr sz="1950" b="1">
                <a:solidFill>
                  <a:srgbClr val="2B1E18"/>
                </a:solidFill>
              </a:rPr>
              <a:t>Return and overdue</a:t>
            </a:r>
          </a:p>
        </p:txBody>
      </p:sp>
      <p:sp>
        <p:nvSpPr>
          <p:cNvPr id="11" name="workflow-return-body">
            <a:extLst xmlns:a="http://schemas.openxmlformats.org/drawingml/2006/main">
              <a:ext uri="{FF2B5EF4-FFF2-40B4-BE49-F238E27FC236}">
                <a16:creationId xmlns:a16="http://schemas.microsoft.com/office/drawing/2014/main" id="{B5A4EBFA-5AB5-4259-AF60-78CF68CA4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06300" y="2647950"/>
            <a:ext cx="49530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2616E"/>
                </a:solidFill>
              </a:defRPr>
            </a:pPr>
            <a:r>
              <a:rPr sz="1575">
                <a:solidFill>
                  <a:srgbClr val="52616E"/>
                </a:solidFill>
              </a:rPr>
              <a:t>RETURNED when admin confirms return</a:t>
            </a:r>
          </a:p>
          <a:p xmlns:a="http://schemas.openxmlformats.org/drawingml/2006/main">
            <a:pPr>
              <a:defRPr sz="1575">
                <a:solidFill>
                  <a:srgbClr val="52616E"/>
                </a:solidFill>
              </a:defRPr>
            </a:pPr>
            <a:r>
              <a:rPr sz="1575">
                <a:solidFill>
                  <a:srgbClr val="52616E"/>
                </a:solidFill>
              </a:rPr>
              <a:t>OVERDUE when expected return date is passed</a:t>
            </a:r>
          </a:p>
          <a:p xmlns:a="http://schemas.openxmlformats.org/drawingml/2006/main">
            <a:pPr>
              <a:defRPr sz="1575">
                <a:solidFill>
                  <a:srgbClr val="52616E"/>
                </a:solidFill>
              </a:defRPr>
            </a:pPr>
            <a:r>
              <a:rPr sz="1575">
                <a:solidFill>
                  <a:srgbClr val="52616E"/>
                </a:solidFill>
              </a:rPr>
              <a:t>REJECTED for unapproved requests that miss the start date</a:t>
            </a:r>
          </a:p>
        </p:txBody>
      </p:sp>
    </p:spTree>
    <p:extLst>
      <p:ext uri="{BB962C8B-B14F-4D97-AF65-F5344CB8AC3E}">
        <p14:creationId xmlns:p14="http://schemas.microsoft.com/office/powerpoint/2010/main" val="189825726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0E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-automation-and-resilience">
            <a:extLst xmlns:a="http://schemas.openxmlformats.org/drawingml/2006/main">
              <a:ext uri="{FF2B5EF4-FFF2-40B4-BE49-F238E27FC236}">
                <a16:creationId xmlns:a16="http://schemas.microsoft.com/office/drawing/2014/main" id="{2B3A5430-7D75-4ED7-B2AF-9CC244D15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85800"/>
            <a:ext cx="22098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E68158"/>
                </a:solidFill>
              </a:defRPr>
            </a:pPr>
            <a:r>
              <a:rPr sz="1350" b="1">
                <a:solidFill>
                  <a:srgbClr val="E68158"/>
                </a:solidFill>
              </a:rPr>
              <a:t>AUTOMATION AND RESILIENCE</a:t>
            </a:r>
          </a:p>
        </p:txBody>
      </p:sp>
      <p:sp>
        <p:nvSpPr>
          <p:cNvPr id="2" name="notification-heading">
            <a:extLst xmlns:a="http://schemas.openxmlformats.org/drawingml/2006/main">
              <a:ext uri="{FF2B5EF4-FFF2-40B4-BE49-F238E27FC236}">
                <a16:creationId xmlns:a16="http://schemas.microsoft.com/office/drawing/2014/main" id="{8D4D60A4-4A25-4ADC-B934-96A19ECA8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238250"/>
            <a:ext cx="166878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2B1E18"/>
                </a:solidFill>
              </a:defRPr>
            </a:pPr>
            <a:r>
              <a:rPr sz="3450" b="1">
                <a:solidFill>
                  <a:srgbClr val="2B1E18"/>
                </a:solidFill>
              </a:rPr>
              <a:t>Scheduling, validation, and exception handling</a:t>
            </a:r>
          </a:p>
        </p:txBody>
      </p:sp>
      <p:sp>
        <p:nvSpPr>
          <p:cNvPr id="3" name="scheduler-card">
            <a:extLst xmlns:a="http://schemas.openxmlformats.org/drawingml/2006/main">
              <a:ext uri="{FF2B5EF4-FFF2-40B4-BE49-F238E27FC236}">
                <a16:creationId xmlns:a16="http://schemas.microsoft.com/office/drawing/2014/main" id="{9CA8F2DE-06E5-4591-8251-8C342CFEC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85010"/>
            <a:ext cx="8201025" cy="7616190"/>
          </a:xfrm>
          <a:prstGeom xmlns:a="http://schemas.openxmlformats.org/drawingml/2006/main" prst="roundRect">
            <a:avLst>
              <a:gd name="adj" fmla="val 3252"/>
            </a:avLst>
          </a:prstGeom>
          <a:solidFill xmlns:a="http://schemas.openxmlformats.org/drawingml/2006/main">
            <a:srgbClr val="F6FBFF"/>
          </a:solidFill>
        </p:spPr>
      </p:sp>
      <p:sp>
        <p:nvSpPr>
          <p:cNvPr id="4" name="scheduler-card-heading">
            <a:extLst xmlns:a="http://schemas.openxmlformats.org/drawingml/2006/main">
              <a:ext uri="{FF2B5EF4-FFF2-40B4-BE49-F238E27FC236}">
                <a16:creationId xmlns:a16="http://schemas.microsoft.com/office/drawing/2014/main" id="{43902E01-7A65-47FD-BDFC-A61EB0CA7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09800"/>
            <a:ext cx="77533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2B1E18"/>
                </a:solidFill>
              </a:defRPr>
            </a:pPr>
            <a:r>
              <a:rPr sz="1950" b="1">
                <a:solidFill>
                  <a:srgbClr val="2B1E18"/>
                </a:solidFill>
              </a:rPr>
              <a:t>NotificationService</a:t>
            </a:r>
          </a:p>
        </p:txBody>
      </p:sp>
      <p:sp>
        <p:nvSpPr>
          <p:cNvPr id="5" name="scheduler-card-body">
            <a:extLst xmlns:a="http://schemas.openxmlformats.org/drawingml/2006/main">
              <a:ext uri="{FF2B5EF4-FFF2-40B4-BE49-F238E27FC236}">
                <a16:creationId xmlns:a16="http://schemas.microsoft.com/office/drawing/2014/main" id="{EDD18F1D-CCCE-4051-B4DF-8EC707ED8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647950"/>
            <a:ext cx="7753350" cy="971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2616E"/>
                </a:solidFill>
              </a:defRPr>
            </a:pPr>
            <a:r>
              <a:rPr sz="1575">
                <a:solidFill>
                  <a:srgbClr val="52616E"/>
                </a:solidFill>
              </a:rPr>
              <a:t>@EnableScheduling activates the cron system.</a:t>
            </a:r>
          </a:p>
          <a:p xmlns:a="http://schemas.openxmlformats.org/drawingml/2006/main">
            <a:pPr>
              <a:defRPr sz="1575">
                <a:solidFill>
                  <a:srgbClr val="52616E"/>
                </a:solidFill>
              </a:defRPr>
            </a:pPr>
            <a:r>
              <a:rPr sz="1575">
                <a:solidFill>
                  <a:srgbClr val="52616E"/>
                </a:solidFill>
              </a:rPr>
              <a:t>@Scheduled(cron = "0 0 8 * * *") sends due-soon reminders every morning.</a:t>
            </a:r>
          </a:p>
          <a:p xmlns:a="http://schemas.openxmlformats.org/drawingml/2006/main">
            <a:pPr>
              <a:defRPr sz="1575">
                <a:solidFill>
                  <a:srgbClr val="52616E"/>
                </a:solidFill>
              </a:defRPr>
            </a:pPr>
            <a:r>
              <a:rPr sz="1575">
                <a:solidFill>
                  <a:srgbClr val="52616E"/>
                </a:solidFill>
              </a:rPr>
              <a:t>ApplicationReadyEvent also seeds reminders at startup for the demo.</a:t>
            </a:r>
          </a:p>
          <a:p xmlns:a="http://schemas.openxmlformats.org/drawingml/2006/main">
            <a:pPr>
              <a:defRPr sz="1575">
                <a:solidFill>
                  <a:srgbClr val="52616E"/>
                </a:solidFill>
              </a:defRPr>
            </a:pPr>
            <a:r>
              <a:rPr sz="1575">
                <a:solidFill>
                  <a:srgbClr val="52616E"/>
                </a:solidFill>
              </a:rPr>
              <a:t>Admins can send manual overdue alerts to students.</a:t>
            </a:r>
          </a:p>
        </p:txBody>
      </p:sp>
      <p:sp>
        <p:nvSpPr>
          <p:cNvPr id="6" name="exception-card">
            <a:extLst xmlns:a="http://schemas.openxmlformats.org/drawingml/2006/main">
              <a:ext uri="{FF2B5EF4-FFF2-40B4-BE49-F238E27FC236}">
                <a16:creationId xmlns:a16="http://schemas.microsoft.com/office/drawing/2014/main" id="{1605B335-5E74-43B8-9A74-52DB4EB1F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1985010"/>
            <a:ext cx="8201025" cy="7616190"/>
          </a:xfrm>
          <a:prstGeom xmlns:a="http://schemas.openxmlformats.org/drawingml/2006/main" prst="roundRect">
            <a:avLst>
              <a:gd name="adj" fmla="val 3252"/>
            </a:avLst>
          </a:prstGeom>
          <a:solidFill xmlns:a="http://schemas.openxmlformats.org/drawingml/2006/main">
            <a:srgbClr val="FFFDFC"/>
          </a:solidFill>
        </p:spPr>
      </p:sp>
      <p:sp>
        <p:nvSpPr>
          <p:cNvPr id="7" name="exception-card-heading">
            <a:extLst xmlns:a="http://schemas.openxmlformats.org/drawingml/2006/main">
              <a:ext uri="{FF2B5EF4-FFF2-40B4-BE49-F238E27FC236}">
                <a16:creationId xmlns:a16="http://schemas.microsoft.com/office/drawing/2014/main" id="{F88950DC-D567-49FC-9B5E-71D9BD916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209800"/>
            <a:ext cx="77533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2B1E18"/>
                </a:solidFill>
              </a:defRPr>
            </a:pPr>
            <a:r>
              <a:rPr sz="1950" b="1">
                <a:solidFill>
                  <a:srgbClr val="2B1E18"/>
                </a:solidFill>
              </a:rPr>
              <a:t>Validation and errors</a:t>
            </a:r>
          </a:p>
        </p:txBody>
      </p:sp>
      <p:sp>
        <p:nvSpPr>
          <p:cNvPr id="8" name="exception-card-body">
            <a:extLst xmlns:a="http://schemas.openxmlformats.org/drawingml/2006/main">
              <a:ext uri="{FF2B5EF4-FFF2-40B4-BE49-F238E27FC236}">
                <a16:creationId xmlns:a16="http://schemas.microsoft.com/office/drawing/2014/main" id="{97551AB3-76C5-4925-8B18-890CDBB35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647950"/>
            <a:ext cx="7753350" cy="971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2616E"/>
                </a:solidFill>
              </a:defRPr>
            </a:pPr>
            <a:r>
              <a:rPr sz="1575">
                <a:solidFill>
                  <a:srgbClr val="52616E"/>
                </a:solidFill>
              </a:rPr>
              <a:t>DTO annotations validate request data before business logic runs.</a:t>
            </a:r>
          </a:p>
          <a:p xmlns:a="http://schemas.openxmlformats.org/drawingml/2006/main">
            <a:pPr>
              <a:defRPr sz="1575">
                <a:solidFill>
                  <a:srgbClr val="52616E"/>
                </a:solidFill>
              </a:defRPr>
            </a:pPr>
            <a:r>
              <a:rPr sz="1575">
                <a:solidFill>
                  <a:srgbClr val="52616E"/>
                </a:solidFill>
              </a:rPr>
              <a:t>BusinessException represents rule violations such as full booking or invalid dates.</a:t>
            </a:r>
          </a:p>
          <a:p xmlns:a="http://schemas.openxmlformats.org/drawingml/2006/main">
            <a:pPr>
              <a:defRPr sz="1575">
                <a:solidFill>
                  <a:srgbClr val="52616E"/>
                </a:solidFill>
              </a:defRPr>
            </a:pPr>
            <a:r>
              <a:rPr sz="1575">
                <a:solidFill>
                  <a:srgbClr val="52616E"/>
                </a:solidFill>
              </a:rPr>
              <a:t>GlobalExceptionHandler converts errors into clean JSON responses with 400 or 404 status codes.</a:t>
            </a:r>
          </a:p>
        </p:txBody>
      </p:sp>
    </p:spTree>
    <p:extLst>
      <p:ext uri="{BB962C8B-B14F-4D97-AF65-F5344CB8AC3E}">
        <p14:creationId xmlns:p14="http://schemas.microsoft.com/office/powerpoint/2010/main" val="81318920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D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-important-code-files">
            <a:extLst xmlns:a="http://schemas.openxmlformats.org/drawingml/2006/main">
              <a:ext uri="{FF2B5EF4-FFF2-40B4-BE49-F238E27FC236}">
                <a16:creationId xmlns:a16="http://schemas.microsoft.com/office/drawing/2014/main" id="{C253DE22-1C4A-4131-B832-32FB5885C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85800"/>
            <a:ext cx="1714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E68158"/>
                </a:solidFill>
              </a:defRPr>
            </a:pPr>
            <a:r>
              <a:rPr sz="1350" b="1">
                <a:solidFill>
                  <a:srgbClr val="E68158"/>
                </a:solidFill>
              </a:rPr>
              <a:t>IMPORTANT CODE FILES</a:t>
            </a:r>
          </a:p>
        </p:txBody>
      </p:sp>
      <p:sp>
        <p:nvSpPr>
          <p:cNvPr id="2" name="files-heading">
            <a:extLst xmlns:a="http://schemas.openxmlformats.org/drawingml/2006/main">
              <a:ext uri="{FF2B5EF4-FFF2-40B4-BE49-F238E27FC236}">
                <a16:creationId xmlns:a16="http://schemas.microsoft.com/office/drawing/2014/main" id="{586BD9FF-62D5-4243-8484-072FC05A6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028700"/>
            <a:ext cx="166878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2B1E18"/>
                </a:solidFill>
              </a:defRPr>
            </a:pPr>
            <a:r>
              <a:rPr sz="3450" b="1">
                <a:solidFill>
                  <a:srgbClr val="2B1E18"/>
                </a:solidFill>
              </a:rPr>
              <a:t>What to mention if the professor asks where the logic is</a:t>
            </a:r>
          </a:p>
        </p:txBody>
      </p:sp>
      <p:sp>
        <p:nvSpPr>
          <p:cNvPr id="3" name="files-left">
            <a:extLst xmlns:a="http://schemas.openxmlformats.org/drawingml/2006/main">
              <a:ext uri="{FF2B5EF4-FFF2-40B4-BE49-F238E27FC236}">
                <a16:creationId xmlns:a16="http://schemas.microsoft.com/office/drawing/2014/main" id="{F5CD8848-027F-4E8D-B108-049D616FE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71650"/>
            <a:ext cx="8610600" cy="782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52616E"/>
                </a:solidFill>
              </a:defRPr>
            </a:pPr>
            <a:r>
              <a:rPr sz="1950">
                <a:solidFill>
                  <a:srgbClr val="52616E"/>
                </a:solidFill>
              </a:rPr>
              <a:t>• CampusResourceHubBackendApplication.java: startup, property scanning, scheduling.</a:t>
            </a:r>
          </a:p>
          <a:p xmlns:a="http://schemas.openxmlformats.org/drawingml/2006/main">
            <a:pPr>
              <a:defRPr sz="1950">
                <a:solidFill>
                  <a:srgbClr val="52616E"/>
                </a:solidFill>
              </a:defRPr>
            </a:pPr>
            <a:r>
              <a:rPr sz="1950">
                <a:solidFill>
                  <a:srgbClr val="52616E"/>
                </a:solidFill>
              </a:rPr>
              <a:t>• ReservationService.java: main business logic for reservation creation, approval, status refresh, and stock rules.</a:t>
            </a:r>
          </a:p>
          <a:p xmlns:a="http://schemas.openxmlformats.org/drawingml/2006/main">
            <a:pPr>
              <a:defRPr sz="1950">
                <a:solidFill>
                  <a:srgbClr val="52616E"/>
                </a:solidFill>
              </a:defRPr>
            </a:pPr>
            <a:r>
              <a:rPr sz="1950">
                <a:solidFill>
                  <a:srgbClr val="52616E"/>
                </a:solidFill>
              </a:rPr>
              <a:t>• NotificationService.java: automatic reminders and manual overdue alerts.</a:t>
            </a:r>
          </a:p>
          <a:p xmlns:a="http://schemas.openxmlformats.org/drawingml/2006/main">
            <a:pPr>
              <a:defRPr sz="1950">
                <a:solidFill>
                  <a:srgbClr val="52616E"/>
                </a:solidFill>
              </a:defRPr>
            </a:pPr>
            <a:r>
              <a:rPr sz="1950">
                <a:solidFill>
                  <a:srgbClr val="52616E"/>
                </a:solidFill>
              </a:rPr>
              <a:t>• StudentService.java: student CRUD, login, and profile mapping.</a:t>
            </a:r>
          </a:p>
          <a:p xmlns:a="http://schemas.openxmlformats.org/drawingml/2006/main">
            <a:pPr>
              <a:defRPr sz="1950">
                <a:solidFill>
                  <a:srgbClr val="52616E"/>
                </a:solidFill>
              </a:defRPr>
            </a:pPr>
            <a:r>
              <a:rPr sz="1950">
                <a:solidFill>
                  <a:srgbClr val="52616E"/>
                </a:solidFill>
              </a:rPr>
              <a:t>• GlobalExceptionHandler.java: centralized API error responses.</a:t>
            </a:r>
          </a:p>
        </p:txBody>
      </p:sp>
      <p:sp>
        <p:nvSpPr>
          <p:cNvPr id="4" name="files-right">
            <a:extLst xmlns:a="http://schemas.openxmlformats.org/drawingml/2006/main">
              <a:ext uri="{FF2B5EF4-FFF2-40B4-BE49-F238E27FC236}">
                <a16:creationId xmlns:a16="http://schemas.microsoft.com/office/drawing/2014/main" id="{83B85638-3F4A-415D-BB96-37483A1AC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1771650"/>
            <a:ext cx="7791450" cy="782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52616E"/>
                </a:solidFill>
              </a:defRPr>
            </a:pPr>
            <a:r>
              <a:rPr sz="1950">
                <a:solidFill>
                  <a:srgbClr val="52616E"/>
                </a:solidFill>
              </a:rPr>
              <a:t>• ReservationController.java: exposes reservation endpoints.</a:t>
            </a:r>
          </a:p>
          <a:p xmlns:a="http://schemas.openxmlformats.org/drawingml/2006/main">
            <a:pPr>
              <a:defRPr sz="1950">
                <a:solidFill>
                  <a:srgbClr val="52616E"/>
                </a:solidFill>
              </a:defRPr>
            </a:pPr>
            <a:r>
              <a:rPr sz="1950">
                <a:solidFill>
                  <a:srgbClr val="52616E"/>
                </a:solidFill>
              </a:rPr>
              <a:t>• DataSeeder.java: prepares demo students, resources, and reservations.</a:t>
            </a:r>
          </a:p>
          <a:p xmlns:a="http://schemas.openxmlformats.org/drawingml/2006/main">
            <a:pPr>
              <a:defRPr sz="1950">
                <a:solidFill>
                  <a:srgbClr val="52616E"/>
                </a:solidFill>
              </a:defRPr>
            </a:pPr>
            <a:r>
              <a:rPr sz="1950">
                <a:solidFill>
                  <a:srgbClr val="52616E"/>
                </a:solidFill>
              </a:rPr>
              <a:t>• StudentReservationRequest.java and ReservationRequest.java: validation contracts.</a:t>
            </a:r>
          </a:p>
          <a:p xmlns:a="http://schemas.openxmlformats.org/drawingml/2006/main">
            <a:pPr>
              <a:defRPr sz="1950">
                <a:solidFill>
                  <a:srgbClr val="52616E"/>
                </a:solidFill>
              </a:defRPr>
            </a:pPr>
            <a:r>
              <a:rPr sz="1950">
                <a:solidFill>
                  <a:srgbClr val="52616E"/>
                </a:solidFill>
              </a:rPr>
              <a:t>• Reservation.java, Student.java, Resource.java: JPA entities and relationships.</a:t>
            </a:r>
          </a:p>
          <a:p xmlns:a="http://schemas.openxmlformats.org/drawingml/2006/main">
            <a:pPr>
              <a:defRPr sz="1950">
                <a:solidFill>
                  <a:srgbClr val="52616E"/>
                </a:solidFill>
              </a:defRPr>
            </a:pPr>
            <a:r>
              <a:rPr sz="1950">
                <a:solidFill>
                  <a:srgbClr val="52616E"/>
                </a:solidFill>
              </a:rPr>
              <a:t>• application.properties: ports, H2, JPA, active profile, and custom app properties.</a:t>
            </a:r>
          </a:p>
        </p:txBody>
      </p:sp>
    </p:spTree>
    <p:extLst>
      <p:ext uri="{BB962C8B-B14F-4D97-AF65-F5344CB8AC3E}">
        <p14:creationId xmlns:p14="http://schemas.microsoft.com/office/powerpoint/2010/main" val="33059242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0E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-likely-questions">
            <a:extLst xmlns:a="http://schemas.openxmlformats.org/drawingml/2006/main">
              <a:ext uri="{FF2B5EF4-FFF2-40B4-BE49-F238E27FC236}">
                <a16:creationId xmlns:a16="http://schemas.microsoft.com/office/drawing/2014/main" id="{CCFAA6B2-F2BD-45B2-A215-05502CC28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85800"/>
            <a:ext cx="13144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E68158"/>
                </a:solidFill>
              </a:defRPr>
            </a:pPr>
            <a:r>
              <a:rPr sz="1350" b="1">
                <a:solidFill>
                  <a:srgbClr val="E68158"/>
                </a:solidFill>
              </a:rPr>
              <a:t>LIKELY QUESTIONS</a:t>
            </a:r>
          </a:p>
        </p:txBody>
      </p:sp>
      <p:sp>
        <p:nvSpPr>
          <p:cNvPr id="2" name="qa-heading">
            <a:extLst xmlns:a="http://schemas.openxmlformats.org/drawingml/2006/main">
              <a:ext uri="{FF2B5EF4-FFF2-40B4-BE49-F238E27FC236}">
                <a16:creationId xmlns:a16="http://schemas.microsoft.com/office/drawing/2014/main" id="{44F619E7-49C5-4FF3-9C10-12D8A6A70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028700"/>
            <a:ext cx="166878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2B1E18"/>
                </a:solidFill>
              </a:defRPr>
            </a:pPr>
            <a:r>
              <a:rPr sz="3450" b="1">
                <a:solidFill>
                  <a:srgbClr val="2B1E18"/>
                </a:solidFill>
              </a:rPr>
              <a:t>Short answers for the oral defense</a:t>
            </a:r>
          </a:p>
        </p:txBody>
      </p:sp>
      <p:sp>
        <p:nvSpPr>
          <p:cNvPr id="3" name="qa-left">
            <a:extLst xmlns:a="http://schemas.openxmlformats.org/drawingml/2006/main">
              <a:ext uri="{FF2B5EF4-FFF2-40B4-BE49-F238E27FC236}">
                <a16:creationId xmlns:a16="http://schemas.microsoft.com/office/drawing/2014/main" id="{445EEB9D-2861-400F-94D4-4CB59EF94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79270"/>
            <a:ext cx="8210550" cy="7821930"/>
          </a:xfrm>
          <a:prstGeom xmlns:a="http://schemas.openxmlformats.org/drawingml/2006/main" prst="roundRect">
            <a:avLst>
              <a:gd name="adj" fmla="val 3166"/>
            </a:avLst>
          </a:prstGeom>
          <a:solidFill xmlns:a="http://schemas.openxmlformats.org/drawingml/2006/main">
            <a:srgbClr val="FFFDFC"/>
          </a:solidFill>
        </p:spPr>
      </p:sp>
      <p:sp>
        <p:nvSpPr>
          <p:cNvPr id="4" name="qa-left-heading">
            <a:extLst xmlns:a="http://schemas.openxmlformats.org/drawingml/2006/main">
              <a:ext uri="{FF2B5EF4-FFF2-40B4-BE49-F238E27FC236}">
                <a16:creationId xmlns:a16="http://schemas.microsoft.com/office/drawing/2014/main" id="{7AAD9D92-F1C6-4612-BF72-7417FA77C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000250"/>
            <a:ext cx="77533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2B1E18"/>
                </a:solidFill>
              </a:defRPr>
            </a:pPr>
            <a:r>
              <a:rPr sz="1950" b="1">
                <a:solidFill>
                  <a:srgbClr val="2B1E18"/>
                </a:solidFill>
              </a:rPr>
              <a:t>Common technical questions</a:t>
            </a:r>
          </a:p>
        </p:txBody>
      </p:sp>
      <p:sp>
        <p:nvSpPr>
          <p:cNvPr id="5" name="qa-left-body">
            <a:extLst xmlns:a="http://schemas.openxmlformats.org/drawingml/2006/main">
              <a:ext uri="{FF2B5EF4-FFF2-40B4-BE49-F238E27FC236}">
                <a16:creationId xmlns:a16="http://schemas.microsoft.com/office/drawing/2014/main" id="{1806BEDD-15C5-434D-B71F-35F3CD6CB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38400"/>
            <a:ext cx="7753350" cy="971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2616E"/>
                </a:solidFill>
              </a:defRPr>
            </a:pPr>
            <a:r>
              <a:rPr sz="1575">
                <a:solidFill>
                  <a:srgbClr val="52616E"/>
                </a:solidFill>
              </a:rPr>
              <a:t>Why Spring Boot? Because it provides auto-configuration, REST support, validation, JPA, and scheduling with less boilerplate.</a:t>
            </a:r>
          </a:p>
          <a:p xmlns:a="http://schemas.openxmlformats.org/drawingml/2006/main">
            <a:pPr>
              <a:defRPr sz="1575">
                <a:solidFill>
                  <a:srgbClr val="52616E"/>
                </a:solidFill>
              </a:defRPr>
            </a:pPr>
            <a:r>
              <a:rPr sz="1575">
                <a:solidFill>
                  <a:srgbClr val="52616E"/>
                </a:solidFill>
              </a:rPr>
              <a:t>Why not put logic in controllers? Because services keep business rules reusable and testable.</a:t>
            </a:r>
          </a:p>
          <a:p xmlns:a="http://schemas.openxmlformats.org/drawingml/2006/main">
            <a:pPr>
              <a:defRPr sz="1575">
                <a:solidFill>
                  <a:srgbClr val="52616E"/>
                </a:solidFill>
              </a:defRPr>
            </a:pPr>
            <a:r>
              <a:rPr sz="1575">
                <a:solidFill>
                  <a:srgbClr val="52616E"/>
                </a:solidFill>
              </a:rPr>
              <a:t>Why DTOs? To validate input and avoid exposing entities directly.</a:t>
            </a:r>
          </a:p>
        </p:txBody>
      </p:sp>
      <p:sp>
        <p:nvSpPr>
          <p:cNvPr id="6" name="qa-right">
            <a:extLst xmlns:a="http://schemas.openxmlformats.org/drawingml/2006/main">
              <a:ext uri="{FF2B5EF4-FFF2-40B4-BE49-F238E27FC236}">
                <a16:creationId xmlns:a16="http://schemas.microsoft.com/office/drawing/2014/main" id="{DC3686BA-0719-4ED3-806A-794D5E6FB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779270"/>
            <a:ext cx="8210550" cy="7821930"/>
          </a:xfrm>
          <a:prstGeom xmlns:a="http://schemas.openxmlformats.org/drawingml/2006/main" prst="roundRect">
            <a:avLst>
              <a:gd name="adj" fmla="val 3166"/>
            </a:avLst>
          </a:prstGeom>
          <a:solidFill xmlns:a="http://schemas.openxmlformats.org/drawingml/2006/main">
            <a:srgbClr val="FFFDFC"/>
          </a:solidFill>
        </p:spPr>
      </p:sp>
      <p:sp>
        <p:nvSpPr>
          <p:cNvPr id="7" name="qa-right-heading">
            <a:extLst xmlns:a="http://schemas.openxmlformats.org/drawingml/2006/main">
              <a:ext uri="{FF2B5EF4-FFF2-40B4-BE49-F238E27FC236}">
                <a16:creationId xmlns:a16="http://schemas.microsoft.com/office/drawing/2014/main" id="{CA23ACC9-D44B-4685-9412-67184461A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000250"/>
            <a:ext cx="77533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2B1E18"/>
                </a:solidFill>
              </a:defRPr>
            </a:pPr>
            <a:r>
              <a:rPr sz="1950" b="1">
                <a:solidFill>
                  <a:srgbClr val="2B1E18"/>
                </a:solidFill>
              </a:rPr>
              <a:t>Honest project limits</a:t>
            </a:r>
          </a:p>
        </p:txBody>
      </p:sp>
      <p:sp>
        <p:nvSpPr>
          <p:cNvPr id="8" name="qa-right-body">
            <a:extLst xmlns:a="http://schemas.openxmlformats.org/drawingml/2006/main">
              <a:ext uri="{FF2B5EF4-FFF2-40B4-BE49-F238E27FC236}">
                <a16:creationId xmlns:a16="http://schemas.microsoft.com/office/drawing/2014/main" id="{B8C0F516-A23A-4647-889E-A051DC526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438400"/>
            <a:ext cx="7753350" cy="971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2616E"/>
                </a:solidFill>
              </a:defRPr>
            </a:pPr>
            <a:r>
              <a:rPr sz="1575">
                <a:solidFill>
                  <a:srgbClr val="52616E"/>
                </a:solidFill>
              </a:rPr>
              <a:t>Admin authentication is still demo-style on the frontend, not Spring Security.</a:t>
            </a:r>
          </a:p>
          <a:p xmlns:a="http://schemas.openxmlformats.org/drawingml/2006/main">
            <a:pPr>
              <a:defRPr sz="1575">
                <a:solidFill>
                  <a:srgbClr val="52616E"/>
                </a:solidFill>
              </a:defRPr>
            </a:pPr>
            <a:r>
              <a:rPr sz="1575">
                <a:solidFill>
                  <a:srgbClr val="52616E"/>
                </a:solidFill>
              </a:rPr>
              <a:t>H2 is in-memory for presentation simplicity.</a:t>
            </a:r>
          </a:p>
          <a:p xmlns:a="http://schemas.openxmlformats.org/drawingml/2006/main">
            <a:pPr>
              <a:defRPr sz="1575">
                <a:solidFill>
                  <a:srgbClr val="52616E"/>
                </a:solidFill>
              </a:defRPr>
            </a:pPr>
            <a:r>
              <a:rPr sz="1575">
                <a:solidFill>
                  <a:srgbClr val="52616E"/>
                </a:solidFill>
              </a:rPr>
              <a:t>Passwords are plain for demo scope, not production security.</a:t>
            </a:r>
          </a:p>
          <a:p xmlns:a="http://schemas.openxmlformats.org/drawingml/2006/main">
            <a:pPr>
              <a:defRPr sz="1575">
                <a:solidFill>
                  <a:srgbClr val="52616E"/>
                </a:solidFill>
              </a:defRPr>
            </a:pPr>
            <a:r>
              <a:rPr sz="1575">
                <a:solidFill>
                  <a:srgbClr val="52616E"/>
                </a:solidFill>
              </a:rPr>
              <a:t>Frontend is React in this repository, while Spring Boot remains the academic focus.</a:t>
            </a:r>
          </a:p>
        </p:txBody>
      </p:sp>
    </p:spTree>
    <p:extLst>
      <p:ext uri="{BB962C8B-B14F-4D97-AF65-F5344CB8AC3E}">
        <p14:creationId xmlns:p14="http://schemas.microsoft.com/office/powerpoint/2010/main" val="81282871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17354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-closing-summary">
            <a:extLst xmlns:a="http://schemas.openxmlformats.org/drawingml/2006/main">
              <a:ext uri="{FF2B5EF4-FFF2-40B4-BE49-F238E27FC236}">
                <a16:creationId xmlns:a16="http://schemas.microsoft.com/office/drawing/2014/main" id="{EBD0A376-4A02-4A4C-B262-9296667F0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838200"/>
            <a:ext cx="14478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E68158"/>
                </a:solidFill>
              </a:defRPr>
            </a:pPr>
            <a:r>
              <a:rPr sz="1350" b="1">
                <a:solidFill>
                  <a:srgbClr val="E68158"/>
                </a:solidFill>
              </a:rPr>
              <a:t>CLOSING SUMMARY</a:t>
            </a:r>
          </a:p>
        </p:txBody>
      </p:sp>
      <p:sp>
        <p:nvSpPr>
          <p:cNvPr id="2" name="closing-title">
            <a:extLst xmlns:a="http://schemas.openxmlformats.org/drawingml/2006/main">
              <a:ext uri="{FF2B5EF4-FFF2-40B4-BE49-F238E27FC236}">
                <a16:creationId xmlns:a16="http://schemas.microsoft.com/office/drawing/2014/main" id="{4125043B-2D54-4C16-95E2-AA0CBAB0C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85900"/>
            <a:ext cx="10610850" cy="133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FFFDFC"/>
                </a:solidFill>
              </a:defRPr>
            </a:pPr>
            <a:r>
              <a:rPr sz="4350" b="1">
                <a:solidFill>
                  <a:srgbClr val="FFFDFC"/>
                </a:solidFill>
              </a:rPr>
              <a:t>What this project demonstrates in Spring Boot</a:t>
            </a:r>
          </a:p>
        </p:txBody>
      </p:sp>
      <p:sp>
        <p:nvSpPr>
          <p:cNvPr id="3" name="closing-bullets">
            <a:extLst xmlns:a="http://schemas.openxmlformats.org/drawingml/2006/main">
              <a:ext uri="{FF2B5EF4-FFF2-40B4-BE49-F238E27FC236}">
                <a16:creationId xmlns:a16="http://schemas.microsoft.com/office/drawing/2014/main" id="{55419CD7-2E62-41C4-B237-B27D9E953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28950"/>
            <a:ext cx="16459200" cy="1485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DCE7F2"/>
                </a:solidFill>
              </a:defRPr>
            </a:pPr>
            <a:r>
              <a:rPr sz="1950">
                <a:solidFill>
                  <a:srgbClr val="DCE7F2"/>
                </a:solidFill>
              </a:rPr>
              <a:t>• Layered architecture: controller, service, repository, DTO, entity, exception.</a:t>
            </a:r>
          </a:p>
          <a:p xmlns:a="http://schemas.openxmlformats.org/drawingml/2006/main">
            <a:pPr>
              <a:defRPr sz="1950">
                <a:solidFill>
                  <a:srgbClr val="DCE7F2"/>
                </a:solidFill>
              </a:defRPr>
            </a:pPr>
            <a:r>
              <a:rPr sz="1950">
                <a:solidFill>
                  <a:srgbClr val="DCE7F2"/>
                </a:solidFill>
              </a:rPr>
              <a:t>• JPA entity relationships that reflect a real reservation domain.</a:t>
            </a:r>
          </a:p>
          <a:p xmlns:a="http://schemas.openxmlformats.org/drawingml/2006/main">
            <a:pPr>
              <a:defRPr sz="1950">
                <a:solidFill>
                  <a:srgbClr val="DCE7F2"/>
                </a:solidFill>
              </a:defRPr>
            </a:pPr>
            <a:r>
              <a:rPr sz="1950">
                <a:solidFill>
                  <a:srgbClr val="DCE7F2"/>
                </a:solidFill>
              </a:rPr>
              <a:t>• Business-rule implementation beyond CRUD.</a:t>
            </a:r>
          </a:p>
          <a:p xmlns:a="http://schemas.openxmlformats.org/drawingml/2006/main">
            <a:pPr>
              <a:defRPr sz="1950">
                <a:solidFill>
                  <a:srgbClr val="DCE7F2"/>
                </a:solidFill>
              </a:defRPr>
            </a:pPr>
            <a:r>
              <a:rPr sz="1950">
                <a:solidFill>
                  <a:srgbClr val="DCE7F2"/>
                </a:solidFill>
              </a:rPr>
              <a:t>• Validation, scheduling, notifications, and stock control.</a:t>
            </a:r>
          </a:p>
          <a:p xmlns:a="http://schemas.openxmlformats.org/drawingml/2006/main">
            <a:pPr>
              <a:defRPr sz="1950">
                <a:solidFill>
                  <a:srgbClr val="DCE7F2"/>
                </a:solidFill>
              </a:defRPr>
            </a:pPr>
            <a:r>
              <a:rPr sz="1950">
                <a:solidFill>
                  <a:srgbClr val="DCE7F2"/>
                </a:solidFill>
              </a:rPr>
              <a:t>• A backend designed to support a separated frontend through REST APIs.</a:t>
            </a:r>
          </a:p>
        </p:txBody>
      </p:sp>
    </p:spTree>
    <p:extLst>
      <p:ext uri="{BB962C8B-B14F-4D97-AF65-F5344CB8AC3E}">
        <p14:creationId xmlns:p14="http://schemas.microsoft.com/office/powerpoint/2010/main" val="79695285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2026-05-14T09:22:38.7080000Z</dcterms:created>
  <dcterms:modified xsi:type="dcterms:W3CDTF">2026-05-14T09:22:38.7080000Z</dcterms:modified>
</coreProperties>
</file>