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f17c342de54e5b" /><Relationship Type="http://schemas.openxmlformats.org/officeDocument/2006/relationships/extended-properties" Target="/docProps/app.xml" Id="Rac6802c2b2a44056" /><Relationship Type="http://schemas.openxmlformats.org/officeDocument/2006/relationships/officeDocument" Target="/ppt/presentation.xml" Id="R1c48d570b24346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a520a13ab4d16"/>
  </p:sldMasterIdLst>
  <p:notesMasterIdLst>
    <p:notesMasterId xmlns:r="http://schemas.openxmlformats.org/officeDocument/2006/relationships" r:id="R51c5a2790301497b"/>
  </p:notesMasterIdLst>
  <p:sldIdLst>
    <p:sldId xmlns:r="http://schemas.openxmlformats.org/officeDocument/2006/relationships" id="256" r:id="R2936f91abe8842cc"/>
    <p:sldId xmlns:r="http://schemas.openxmlformats.org/officeDocument/2006/relationships" id="257" r:id="R3a23eee970b14fd3"/>
    <p:sldId xmlns:r="http://schemas.openxmlformats.org/officeDocument/2006/relationships" id="258" r:id="Rd862d13d6e3c4432"/>
    <p:sldId xmlns:r="http://schemas.openxmlformats.org/officeDocument/2006/relationships" id="259" r:id="Reb9ce20217924296"/>
    <p:sldId xmlns:r="http://schemas.openxmlformats.org/officeDocument/2006/relationships" id="260" r:id="R677592bfadf34839"/>
    <p:sldId xmlns:r="http://schemas.openxmlformats.org/officeDocument/2006/relationships" id="261" r:id="Re0de708eee35435d"/>
    <p:sldId xmlns:r="http://schemas.openxmlformats.org/officeDocument/2006/relationships" id="262" r:id="Rd813b209f9504683"/>
    <p:sldId xmlns:r="http://schemas.openxmlformats.org/officeDocument/2006/relationships" id="263" r:id="R7060d63da9a24d83"/>
    <p:sldId xmlns:r="http://schemas.openxmlformats.org/officeDocument/2006/relationships" id="264" r:id="R7e391319dfbd44e9"/>
    <p:sldId xmlns:r="http://schemas.openxmlformats.org/officeDocument/2006/relationships" id="265" r:id="Rb9607756eddf4922"/>
    <p:sldId xmlns:r="http://schemas.openxmlformats.org/officeDocument/2006/relationships" id="266" r:id="Rc85b2cb74cd84d7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a520a13ab4d16" /><Relationship Type="http://schemas.openxmlformats.org/officeDocument/2006/relationships/theme" Target="/ppt/theme/theme1.xml" Id="Rdc013b217a3f40e0" /><Relationship Type="http://schemas.openxmlformats.org/officeDocument/2006/relationships/notesMaster" Target="/ppt/notesMasters/notesMaster1.xml" Id="R51c5a2790301497b" /><Relationship Type="http://schemas.openxmlformats.org/officeDocument/2006/relationships/presProps" Target="/ppt/presProps.xml" Id="Rdf01abb5db4e4f12" /><Relationship Type="http://schemas.openxmlformats.org/officeDocument/2006/relationships/viewProps" Target="/ppt/viewProps.xml" Id="Ra2570494eff3455d" /><Relationship Type="http://schemas.openxmlformats.org/officeDocument/2006/relationships/tableStyles" Target="/ppt/tableStyles.xml" Id="R00a724854292436a" /><Relationship Type="http://schemas.openxmlformats.org/officeDocument/2006/relationships/slide" Target="/ppt/slides/slide1.xml" Id="R2936f91abe8842cc" /><Relationship Type="http://schemas.openxmlformats.org/officeDocument/2006/relationships/slide" Target="/ppt/slides/slide2.xml" Id="R3a23eee970b14fd3" /><Relationship Type="http://schemas.openxmlformats.org/officeDocument/2006/relationships/slide" Target="/ppt/slides/slide3.xml" Id="Rd862d13d6e3c4432" /><Relationship Type="http://schemas.openxmlformats.org/officeDocument/2006/relationships/slide" Target="/ppt/slides/slide4.xml" Id="Reb9ce20217924296" /><Relationship Type="http://schemas.openxmlformats.org/officeDocument/2006/relationships/slide" Target="/ppt/slides/slide5.xml" Id="R677592bfadf34839" /><Relationship Type="http://schemas.openxmlformats.org/officeDocument/2006/relationships/slide" Target="/ppt/slides/slide6.xml" Id="Re0de708eee35435d" /><Relationship Type="http://schemas.openxmlformats.org/officeDocument/2006/relationships/slide" Target="/ppt/slides/slide7.xml" Id="Rd813b209f9504683" /><Relationship Type="http://schemas.openxmlformats.org/officeDocument/2006/relationships/slide" Target="/ppt/slides/slide8.xml" Id="R7060d63da9a24d83" /><Relationship Type="http://schemas.openxmlformats.org/officeDocument/2006/relationships/slide" Target="/ppt/slides/slide9.xml" Id="R7e391319dfbd44e9" /><Relationship Type="http://schemas.openxmlformats.org/officeDocument/2006/relationships/slide" Target="/ppt/slides/slide10.xml" Id="Rb9607756eddf4922" /><Relationship Type="http://schemas.openxmlformats.org/officeDocument/2006/relationships/slide" Target="/ppt/slides/slide11.xml" Id="Rc85b2cb74cd84d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61183ff4624c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1e5f9c0ed4c84" /><Relationship Type="http://schemas.openxmlformats.org/officeDocument/2006/relationships/notesMaster" Target="/ppt/notesMasters/notesMaster1.xml" Id="Rc8db42b4c1d8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be79f8b168420f" /><Relationship Type="http://schemas.openxmlformats.org/officeDocument/2006/relationships/notesMaster" Target="/ppt/notesMasters/notesMaster1.xml" Id="Ra3a065c8fbbc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686b6ac904c2f" /><Relationship Type="http://schemas.openxmlformats.org/officeDocument/2006/relationships/notesMaster" Target="/ppt/notesMasters/notesMaster1.xml" Id="Rc54d43d050f345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0a3e8055e14630" /><Relationship Type="http://schemas.openxmlformats.org/officeDocument/2006/relationships/notesMaster" Target="/ppt/notesMasters/notesMaster1.xml" Id="Rb4f79863091f42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7fe84e2dc489b" /><Relationship Type="http://schemas.openxmlformats.org/officeDocument/2006/relationships/notesMaster" Target="/ppt/notesMasters/notesMaster1.xml" Id="R9e1a9512d7194e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9b563391154cc8" /><Relationship Type="http://schemas.openxmlformats.org/officeDocument/2006/relationships/notesMaster" Target="/ppt/notesMasters/notesMaster1.xml" Id="Rcf9959cfd8954a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c38dafd3d4222" /><Relationship Type="http://schemas.openxmlformats.org/officeDocument/2006/relationships/notesMaster" Target="/ppt/notesMasters/notesMaster1.xml" Id="Rcc7866700403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c40bdb319b40d4" /><Relationship Type="http://schemas.openxmlformats.org/officeDocument/2006/relationships/notesMaster" Target="/ppt/notesMasters/notesMaster1.xml" Id="Ra082663d9d984f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c62a3887284a39" /><Relationship Type="http://schemas.openxmlformats.org/officeDocument/2006/relationships/notesMaster" Target="/ppt/notesMasters/notesMaster1.xml" Id="R705241da2593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7d96cd9614bd8" /><Relationship Type="http://schemas.openxmlformats.org/officeDocument/2006/relationships/notesMaster" Target="/ppt/notesMasters/notesMaster1.xml" Id="R6013d227b25645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b6c31b9b464d43" /><Relationship Type="http://schemas.openxmlformats.org/officeDocument/2006/relationships/notesMaster" Target="/ppt/notesMasters/notesMaster1.xml" Id="R8cb1c147b03d49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e1e84bb634b1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cec006fa6984046" /><Relationship Type="http://schemas.openxmlformats.org/officeDocument/2006/relationships/slideLayout" Target="/ppt/slideLayouts/slideLayout2.xml" Id="Rc89e52b86910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e52b86910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1026c5c524258" /><Relationship Type="http://schemas.openxmlformats.org/officeDocument/2006/relationships/notesSlide" Target="/ppt/notesSlides/notesSlide1.xml" Id="R29201dc7d15241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13e9789234f98" /><Relationship Type="http://schemas.openxmlformats.org/officeDocument/2006/relationships/notesSlide" Target="/ppt/notesSlides/notesSlide2.xml" Id="Rb334f7752715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153f822d44445" /><Relationship Type="http://schemas.openxmlformats.org/officeDocument/2006/relationships/notesSlide" Target="/ppt/notesSlides/notesSlide3.xml" Id="Rbe2f3c38ef5140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7efdfebf2a44c8" /><Relationship Type="http://schemas.openxmlformats.org/officeDocument/2006/relationships/notesSlide" Target="/ppt/notesSlides/notesSlide4.xml" Id="Rc04c118313fd4c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203308f1e94587" /><Relationship Type="http://schemas.openxmlformats.org/officeDocument/2006/relationships/notesSlide" Target="/ppt/notesSlides/notesSlide5.xml" Id="Reef28e939d794b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8ab4667ceb4b02" /><Relationship Type="http://schemas.openxmlformats.org/officeDocument/2006/relationships/notesSlide" Target="/ppt/notesSlides/notesSlide6.xml" Id="Rae9dad2c435a4b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7710b9a7954692" /><Relationship Type="http://schemas.openxmlformats.org/officeDocument/2006/relationships/notesSlide" Target="/ppt/notesSlides/notesSlide7.xml" Id="R71cbbdf2c626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e1ac1dbb3f4a6b" /><Relationship Type="http://schemas.openxmlformats.org/officeDocument/2006/relationships/notesSlide" Target="/ppt/notesSlides/notesSlide8.xml" Id="R933e03b54e614c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c629aff5d44afc" /><Relationship Type="http://schemas.openxmlformats.org/officeDocument/2006/relationships/notesSlide" Target="/ppt/notesSlides/notesSlide9.xml" Id="R0f92a21eacf04a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aac08feea64576" /><Relationship Type="http://schemas.openxmlformats.org/officeDocument/2006/relationships/notesSlide" Target="/ppt/notesSlides/notesSlide10.xml" Id="Rf3fade3237e24a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2b85ce3b8e41e2" /><Relationship Type="http://schemas.openxmlformats.org/officeDocument/2006/relationships/notesSlide" Target="/ppt/notesSlides/notesSlide11.xml" Id="R8354b3e9618943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5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spring-boot-project-defense">
            <a:extLst xmlns:a="http://schemas.openxmlformats.org/drawingml/2006/main">
              <a:ext uri="{FF2B5EF4-FFF2-40B4-BE49-F238E27FC236}">
                <a16:creationId xmlns:a16="http://schemas.microsoft.com/office/drawing/2014/main" id="{384A036D-5908-43B2-B5C6-5910DA5B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SPRING BOOT PROJECT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1BADE2-77AD-40AD-BA1B-F768613B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4267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DFC"/>
                </a:solidFill>
              </a:defRPr>
            </a:pPr>
            <a:r>
              <a:rPr sz="4350" b="1">
                <a:solidFill>
                  <a:srgbClr val="FFFDFC"/>
                </a:solidFill>
              </a:rPr>
              <a:t>TEK-UP Resourcely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0C9596BB-3571-4CF2-A7E4-B5569068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158"/>
          </a:solidFill>
          <a:ln xmlns:a="http://schemas.openxmlformats.org/drawingml/2006/main" w="0">
            <a:solidFill>
              <a:srgbClr val="E68158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BF5A328-E61E-41B6-8CF6-CAB2AD0D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2077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CE7F2"/>
                </a:solidFill>
              </a:defRPr>
            </a:pPr>
            <a:r>
              <a:rPr sz="2250">
                <a:solidFill>
                  <a:srgbClr val="DCE7F2"/>
                </a:solidFill>
              </a:rPr>
              <a:t>A TEK-UP equipment reservation platform with approval workflow, scheduling, notifications, and layered Spring Boot architecture.</a:t>
            </a:r>
          </a:p>
        </p:txBody>
      </p:sp>
      <p:sp>
        <p:nvSpPr>
          <p:cNvPr id="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8167CEC-5374-432B-A010-EC262295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029700"/>
            <a:ext cx="7219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FD0DF"/>
                </a:solidFill>
              </a:defRPr>
            </a:pPr>
            <a:r>
              <a:rPr sz="1350">
                <a:solidFill>
                  <a:srgbClr val="BFD0DF"/>
                </a:solidFill>
              </a:rPr>
              <a:t>Backend focus: controllers, services, repositories, JPA entities, validation, scheduling, and business rules.</a:t>
            </a:r>
          </a:p>
        </p:txBody>
      </p:sp>
    </p:spTree>
    <p:extLst>
      <p:ext uri="{BB962C8B-B14F-4D97-AF65-F5344CB8AC3E}">
        <p14:creationId xmlns:p14="http://schemas.microsoft.com/office/powerpoint/2010/main" val="2120703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project-idea">
            <a:extLst xmlns:a="http://schemas.openxmlformats.org/drawingml/2006/main">
              <a:ext uri="{FF2B5EF4-FFF2-40B4-BE49-F238E27FC236}">
                <a16:creationId xmlns:a16="http://schemas.microsoft.com/office/drawing/2014/main" id="{E883E9CF-0129-42F2-B5FF-FB72F803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PROJECT IDEA</a:t>
            </a:r>
          </a:p>
        </p:txBody>
      </p:sp>
      <p:sp>
        <p:nvSpPr>
          <p:cNvPr id="2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3B2CB306-6A4F-4FF3-BB3D-6BEA4F6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Why this project exists</a:t>
            </a:r>
          </a:p>
        </p:txBody>
      </p:sp>
      <p:sp>
        <p:nvSpPr>
          <p:cNvPr id="3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9C5F1FC8-8F6A-4E27-85F0-14C3219E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1601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E"/>
                </a:solidFill>
              </a:defRPr>
            </a:pPr>
            <a:r>
              <a:rPr sz="2100">
                <a:solidFill>
                  <a:srgbClr val="52616E"/>
                </a:solidFill>
              </a:rPr>
              <a:t>Universities share expensive resources, but manual borrowing creates date conflicts, late returns, and weak traceability.</a:t>
            </a:r>
          </a:p>
        </p:txBody>
      </p:sp>
      <p:sp>
        <p:nvSpPr>
          <p:cNvPr id="4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9668D354-5369-4B10-BCF7-61F7261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8968740" cy="6896100"/>
          </a:xfrm>
          <a:prstGeom xmlns:a="http://schemas.openxmlformats.org/drawingml/2006/main" prst="roundRect">
            <a:avLst>
              <a:gd name="adj" fmla="val 3591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5" name="problem-card-heading">
            <a:extLst xmlns:a="http://schemas.openxmlformats.org/drawingml/2006/main">
              <a:ext uri="{FF2B5EF4-FFF2-40B4-BE49-F238E27FC236}">
                <a16:creationId xmlns:a16="http://schemas.microsoft.com/office/drawing/2014/main" id="{9EE76238-C3A1-45CD-AEC3-73D034B5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8515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What the system solves</a:t>
            </a:r>
          </a:p>
        </p:txBody>
      </p:sp>
      <p:sp>
        <p:nvSpPr>
          <p:cNvPr id="6" name="problem-card-body">
            <a:extLst xmlns:a="http://schemas.openxmlformats.org/drawingml/2006/main">
              <a:ext uri="{FF2B5EF4-FFF2-40B4-BE49-F238E27FC236}">
                <a16:creationId xmlns:a16="http://schemas.microsoft.com/office/drawing/2014/main" id="{759B97A9-84F5-4C47-BADB-27DBF53D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8515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Students request cameras, projectors, and embedded kits through a dedicated portal.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Admins review and approve requests instead of giving equipment immediately.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The backend tracks date capacity, due dates, returns, and overdue cases.</a:t>
            </a:r>
          </a:p>
        </p:txBody>
      </p:sp>
      <p:sp>
        <p:nvSpPr>
          <p:cNvPr id="7" name="value-card">
            <a:extLst xmlns:a="http://schemas.openxmlformats.org/drawingml/2006/main">
              <a:ext uri="{FF2B5EF4-FFF2-40B4-BE49-F238E27FC236}">
                <a16:creationId xmlns:a16="http://schemas.microsoft.com/office/drawing/2014/main" id="{8CBBD9C3-9DD4-4409-B468-DA2E2CF8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667000"/>
            <a:ext cx="7338060" cy="6896100"/>
          </a:xfrm>
          <a:prstGeom xmlns:a="http://schemas.openxmlformats.org/drawingml/2006/main" prst="roundRect">
            <a:avLst>
              <a:gd name="adj" fmla="val 3591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8" name="value-card-heading">
            <a:extLst xmlns:a="http://schemas.openxmlformats.org/drawingml/2006/main">
              <a:ext uri="{FF2B5EF4-FFF2-40B4-BE49-F238E27FC236}">
                <a16:creationId xmlns:a16="http://schemas.microsoft.com/office/drawing/2014/main" id="{EA622D6D-0FA5-43CA-83CE-9B73E281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95600"/>
            <a:ext cx="6877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Why it is stronger than CRUD</a:t>
            </a:r>
          </a:p>
        </p:txBody>
      </p:sp>
      <p:sp>
        <p:nvSpPr>
          <p:cNvPr id="9" name="value-card-body">
            <a:extLst xmlns:a="http://schemas.openxmlformats.org/drawingml/2006/main">
              <a:ext uri="{FF2B5EF4-FFF2-40B4-BE49-F238E27FC236}">
                <a16:creationId xmlns:a16="http://schemas.microsoft.com/office/drawing/2014/main" id="{43023024-E35B-48CA-808B-E08E5CF1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33750"/>
            <a:ext cx="68770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Two roles: student and administrator.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Reservation lifecycle with approval logic.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Notifications for requests, approvals, rejections, and deadlines.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Separation between API contract and persistence model.</a:t>
            </a:r>
          </a:p>
        </p:txBody>
      </p:sp>
    </p:spTree>
    <p:extLst>
      <p:ext uri="{BB962C8B-B14F-4D97-AF65-F5344CB8AC3E}">
        <p14:creationId xmlns:p14="http://schemas.microsoft.com/office/powerpoint/2010/main" val="230862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system-architecture">
            <a:extLst xmlns:a="http://schemas.openxmlformats.org/drawingml/2006/main">
              <a:ext uri="{FF2B5EF4-FFF2-40B4-BE49-F238E27FC236}">
                <a16:creationId xmlns:a16="http://schemas.microsoft.com/office/drawing/2014/main" id="{AE45910D-BA2E-46CC-9BE7-C5B0EEDF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66878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SYSTEM ARCHITECTURE</a:t>
            </a:r>
          </a:p>
        </p:txBody>
      </p:sp>
      <p:sp>
        <p:nvSpPr>
          <p:cNvPr id="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844DEE7-470C-4885-9FFB-339927A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66878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Frontend and backend are fully separated</a:t>
            </a:r>
          </a:p>
        </p:txBody>
      </p:sp>
      <p:sp>
        <p:nvSpPr>
          <p:cNvPr id="3" name="arch-frontend">
            <a:extLst xmlns:a="http://schemas.openxmlformats.org/drawingml/2006/main">
              <a:ext uri="{FF2B5EF4-FFF2-40B4-BE49-F238E27FC236}">
                <a16:creationId xmlns:a16="http://schemas.microsoft.com/office/drawing/2014/main" id="{79AF6AE1-E862-4CC8-82FA-333CF71B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2065"/>
            <a:ext cx="5397500" cy="1608773"/>
          </a:xfrm>
          <a:prstGeom xmlns:a="http://schemas.openxmlformats.org/drawingml/2006/main" prst="roundRect">
            <a:avLst>
              <a:gd name="adj" fmla="val 15394"/>
            </a:avLst>
          </a:prstGeom>
          <a:solidFill xmlns:a="http://schemas.openxmlformats.org/drawingml/2006/main">
            <a:srgbClr val="FDF8F3"/>
          </a:solidFill>
        </p:spPr>
      </p:sp>
      <p:sp>
        <p:nvSpPr>
          <p:cNvPr id="4" name="arch-frontend-heading">
            <a:extLst xmlns:a="http://schemas.openxmlformats.org/drawingml/2006/main">
              <a:ext uri="{FF2B5EF4-FFF2-40B4-BE49-F238E27FC236}">
                <a16:creationId xmlns:a16="http://schemas.microsoft.com/office/drawing/2014/main" id="{375B3496-12DA-4496-9DF4-B5DBCBCA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Frontend</a:t>
            </a:r>
          </a:p>
        </p:txBody>
      </p:sp>
      <p:sp>
        <p:nvSpPr>
          <p:cNvPr id="5" name="arch-frontend-body">
            <a:extLst xmlns:a="http://schemas.openxmlformats.org/drawingml/2006/main">
              <a:ext uri="{FF2B5EF4-FFF2-40B4-BE49-F238E27FC236}">
                <a16:creationId xmlns:a16="http://schemas.microsoft.com/office/drawing/2014/main" id="{4BF75842-9AFD-4969-9DFA-74688715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4933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React SPA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Student and admin portals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Calls REST endpoints</a:t>
            </a:r>
          </a:p>
        </p:txBody>
      </p:sp>
      <p:sp>
        <p:nvSpPr>
          <p:cNvPr id="6" name="arch-backend">
            <a:extLst xmlns:a="http://schemas.openxmlformats.org/drawingml/2006/main">
              <a:ext uri="{FF2B5EF4-FFF2-40B4-BE49-F238E27FC236}">
                <a16:creationId xmlns:a16="http://schemas.microsoft.com/office/drawing/2014/main" id="{6251A94D-D782-4D6D-8E48-E13E08C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092065"/>
            <a:ext cx="5397500" cy="1608773"/>
          </a:xfrm>
          <a:prstGeom xmlns:a="http://schemas.openxmlformats.org/drawingml/2006/main" prst="roundRect">
            <a:avLst>
              <a:gd name="adj" fmla="val 15394"/>
            </a:avLst>
          </a:prstGeom>
          <a:solidFill xmlns:a="http://schemas.openxmlformats.org/drawingml/2006/main">
            <a:srgbClr val="E8EEF4"/>
          </a:solidFill>
        </p:spPr>
      </p:sp>
      <p:sp>
        <p:nvSpPr>
          <p:cNvPr id="7" name="arch-backend-heading">
            <a:extLst xmlns:a="http://schemas.openxmlformats.org/drawingml/2006/main">
              <a:ext uri="{FF2B5EF4-FFF2-40B4-BE49-F238E27FC236}">
                <a16:creationId xmlns:a16="http://schemas.microsoft.com/office/drawing/2014/main" id="{05BDF08A-BFE6-41C5-AD3C-D8AAB655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Spring Boot API</a:t>
            </a:r>
          </a:p>
        </p:txBody>
      </p:sp>
      <p:sp>
        <p:nvSpPr>
          <p:cNvPr id="8" name="arch-backend-body">
            <a:extLst xmlns:a="http://schemas.openxmlformats.org/drawingml/2006/main">
              <a:ext uri="{FF2B5EF4-FFF2-40B4-BE49-F238E27FC236}">
                <a16:creationId xmlns:a16="http://schemas.microsoft.com/office/drawing/2014/main" id="{0DA7456D-53F5-4408-A83D-C1687ECA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53100"/>
            <a:ext cx="4933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Controllers expose JSON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Services hold business rules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Repositories use JPA and MySQL</a:t>
            </a:r>
          </a:p>
        </p:txBody>
      </p:sp>
      <p:sp>
        <p:nvSpPr>
          <p:cNvPr id="9" name="arch-db">
            <a:extLst xmlns:a="http://schemas.openxmlformats.org/drawingml/2006/main">
              <a:ext uri="{FF2B5EF4-FFF2-40B4-BE49-F238E27FC236}">
                <a16:creationId xmlns:a16="http://schemas.microsoft.com/office/drawing/2014/main" id="{8FA559C3-5332-47E9-877E-4CDB08BD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5092065"/>
            <a:ext cx="5397500" cy="1608773"/>
          </a:xfrm>
          <a:prstGeom xmlns:a="http://schemas.openxmlformats.org/drawingml/2006/main" prst="roundRect">
            <a:avLst>
              <a:gd name="adj" fmla="val 15394"/>
            </a:avLst>
          </a:prstGeom>
          <a:solidFill xmlns:a="http://schemas.openxmlformats.org/drawingml/2006/main">
            <a:srgbClr val="F7FBF8"/>
          </a:solidFill>
        </p:spPr>
      </p:sp>
      <p:sp>
        <p:nvSpPr>
          <p:cNvPr id="10" name="arch-db-heading">
            <a:extLst xmlns:a="http://schemas.openxmlformats.org/drawingml/2006/main">
              <a:ext uri="{FF2B5EF4-FFF2-40B4-BE49-F238E27FC236}">
                <a16:creationId xmlns:a16="http://schemas.microsoft.com/office/drawing/2014/main" id="{649D40BD-37D7-4A21-B9B0-537F04ED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314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Persistence and automation</a:t>
            </a:r>
          </a:p>
        </p:txBody>
      </p:sp>
      <p:sp>
        <p:nvSpPr>
          <p:cNvPr id="11" name="arch-db-body">
            <a:extLst xmlns:a="http://schemas.openxmlformats.org/drawingml/2006/main">
              <a:ext uri="{FF2B5EF4-FFF2-40B4-BE49-F238E27FC236}">
                <a16:creationId xmlns:a16="http://schemas.microsoft.com/office/drawing/2014/main" id="{CBDEF5DB-16A5-4D9F-ADA2-55A00161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753100"/>
            <a:ext cx="4933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XAMPP MySQL database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Seed data at startup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Scheduled return reminders</a:t>
            </a:r>
          </a:p>
        </p:txBody>
      </p:sp>
      <p:sp>
        <p:nvSpPr>
          <p:cNvPr id="12" name="arch-rule">
            <a:extLst xmlns:a="http://schemas.openxmlformats.org/drawingml/2006/main">
              <a:ext uri="{FF2B5EF4-FFF2-40B4-BE49-F238E27FC236}">
                <a16:creationId xmlns:a16="http://schemas.microsoft.com/office/drawing/2014/main" id="{6D9DAD0D-C051-408C-AA17-D0A3CDE0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34200"/>
            <a:ext cx="1668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BC"/>
          </a:solidFill>
          <a:ln xmlns:a="http://schemas.openxmlformats.org/drawingml/2006/main" w="0">
            <a:solidFill>
              <a:srgbClr val="DCCFBC"/>
            </a:solidFill>
            <a:prstDash val="solid"/>
          </a:ln>
        </p:spPr>
      </p:sp>
      <p:sp>
        <p:nvSpPr>
          <p:cNvPr id="13" name="architecture-bullets">
            <a:extLst xmlns:a="http://schemas.openxmlformats.org/drawingml/2006/main">
              <a:ext uri="{FF2B5EF4-FFF2-40B4-BE49-F238E27FC236}">
                <a16:creationId xmlns:a16="http://schemas.microsoft.com/office/drawing/2014/main" id="{5799520B-4667-478C-910F-D6CB92AF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05650"/>
            <a:ext cx="16687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Spring Boot is used only as a REST backend, not as server-side MVC views.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The frontend authenticates users and consumes JSON data through the API.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This decoupled structure makes the backend reusable by any future Angular, React, or mobile client.</a:t>
            </a:r>
          </a:p>
        </p:txBody>
      </p:sp>
    </p:spTree>
    <p:extLst>
      <p:ext uri="{BB962C8B-B14F-4D97-AF65-F5344CB8AC3E}">
        <p14:creationId xmlns:p14="http://schemas.microsoft.com/office/powerpoint/2010/main" val="558020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spring-boot-structure">
            <a:extLst xmlns:a="http://schemas.openxmlformats.org/drawingml/2006/main">
              <a:ext uri="{FF2B5EF4-FFF2-40B4-BE49-F238E27FC236}">
                <a16:creationId xmlns:a16="http://schemas.microsoft.com/office/drawing/2014/main" id="{F08098CF-30A6-47A8-9FB2-D31D3399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SPRING BOOT STRUCTURE</a:t>
            </a:r>
          </a:p>
        </p:txBody>
      </p:sp>
      <p:sp>
        <p:nvSpPr>
          <p:cNvPr id="2" name="package-title">
            <a:extLst xmlns:a="http://schemas.openxmlformats.org/drawingml/2006/main">
              <a:ext uri="{FF2B5EF4-FFF2-40B4-BE49-F238E27FC236}">
                <a16:creationId xmlns:a16="http://schemas.microsoft.com/office/drawing/2014/main" id="{3FA705D9-2251-4A1D-A16E-6671B541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Backend package map and responsibilities</a:t>
            </a:r>
          </a:p>
        </p:txBody>
      </p:sp>
      <p:sp>
        <p:nvSpPr>
          <p:cNvPr id="3" name="package-1">
            <a:extLst xmlns:a="http://schemas.openxmlformats.org/drawingml/2006/main">
              <a:ext uri="{FF2B5EF4-FFF2-40B4-BE49-F238E27FC236}">
                <a16:creationId xmlns:a16="http://schemas.microsoft.com/office/drawing/2014/main" id="{EFCB34D8-62E7-404D-B65F-EEFFD51A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17370"/>
            <a:ext cx="5384800" cy="7783830"/>
          </a:xfrm>
          <a:prstGeom xmlns:a="http://schemas.openxmlformats.org/drawingml/2006/main" prst="roundRect">
            <a:avLst>
              <a:gd name="adj" fmla="val 4599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4" name="package-1-heading">
            <a:extLst xmlns:a="http://schemas.openxmlformats.org/drawingml/2006/main">
              <a:ext uri="{FF2B5EF4-FFF2-40B4-BE49-F238E27FC236}">
                <a16:creationId xmlns:a16="http://schemas.microsoft.com/office/drawing/2014/main" id="{AE5581A3-1167-4847-8035-258E690C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Entry, config, and exceptions</a:t>
            </a:r>
          </a:p>
        </p:txBody>
      </p:sp>
      <p:sp>
        <p:nvSpPr>
          <p:cNvPr id="5" name="package-1-body">
            <a:extLst xmlns:a="http://schemas.openxmlformats.org/drawingml/2006/main">
              <a:ext uri="{FF2B5EF4-FFF2-40B4-BE49-F238E27FC236}">
                <a16:creationId xmlns:a16="http://schemas.microsoft.com/office/drawing/2014/main" id="{3618445F-4039-4F1F-B736-0DE968DB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49339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CampusResourceHubBackendApplication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AppProperties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CorsConfig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DataSeeder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GlobalExceptionHandler</a:t>
            </a:r>
          </a:p>
        </p:txBody>
      </p:sp>
      <p:sp>
        <p:nvSpPr>
          <p:cNvPr id="6" name="package-2">
            <a:extLst xmlns:a="http://schemas.openxmlformats.org/drawingml/2006/main">
              <a:ext uri="{FF2B5EF4-FFF2-40B4-BE49-F238E27FC236}">
                <a16:creationId xmlns:a16="http://schemas.microsoft.com/office/drawing/2014/main" id="{331D3AAF-9911-44A2-83B8-8E6FCE5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817370"/>
            <a:ext cx="5384800" cy="7783830"/>
          </a:xfrm>
          <a:prstGeom xmlns:a="http://schemas.openxmlformats.org/drawingml/2006/main" prst="roundRect">
            <a:avLst>
              <a:gd name="adj" fmla="val 4599"/>
            </a:avLst>
          </a:prstGeom>
          <a:solidFill xmlns:a="http://schemas.openxmlformats.org/drawingml/2006/main">
            <a:srgbClr val="F6FBFF"/>
          </a:solidFill>
        </p:spPr>
      </p:sp>
      <p:sp>
        <p:nvSpPr>
          <p:cNvPr id="7" name="package-2-heading">
            <a:extLst xmlns:a="http://schemas.openxmlformats.org/drawingml/2006/main">
              <a:ext uri="{FF2B5EF4-FFF2-40B4-BE49-F238E27FC236}">
                <a16:creationId xmlns:a16="http://schemas.microsoft.com/office/drawing/2014/main" id="{041F0347-E0CF-490F-99A6-C4D73CEE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383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API and contracts</a:t>
            </a:r>
          </a:p>
        </p:txBody>
      </p:sp>
      <p:sp>
        <p:nvSpPr>
          <p:cNvPr id="8" name="package-2-body">
            <a:extLst xmlns:a="http://schemas.openxmlformats.org/drawingml/2006/main">
              <a:ext uri="{FF2B5EF4-FFF2-40B4-BE49-F238E27FC236}">
                <a16:creationId xmlns:a16="http://schemas.microsoft.com/office/drawing/2014/main" id="{0EB3B61A-9124-48FF-8873-BBD4331E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9339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controller/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dto/request/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dto/response/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ResponseEntity return style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@Valid for request validation</a:t>
            </a:r>
          </a:p>
        </p:txBody>
      </p:sp>
      <p:sp>
        <p:nvSpPr>
          <p:cNvPr id="9" name="package-3">
            <a:extLst xmlns:a="http://schemas.openxmlformats.org/drawingml/2006/main">
              <a:ext uri="{FF2B5EF4-FFF2-40B4-BE49-F238E27FC236}">
                <a16:creationId xmlns:a16="http://schemas.microsoft.com/office/drawing/2014/main" id="{707AD3BE-13DF-4B74-93D6-A9151B51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1817370"/>
            <a:ext cx="5384800" cy="7783830"/>
          </a:xfrm>
          <a:prstGeom xmlns:a="http://schemas.openxmlformats.org/drawingml/2006/main" prst="roundRect">
            <a:avLst>
              <a:gd name="adj" fmla="val 4599"/>
            </a:avLst>
          </a:prstGeom>
          <a:solidFill xmlns:a="http://schemas.openxmlformats.org/drawingml/2006/main">
            <a:srgbClr val="FBF8F4"/>
          </a:solidFill>
        </p:spPr>
      </p:sp>
      <p:sp>
        <p:nvSpPr>
          <p:cNvPr id="10" name="package-3-heading">
            <a:extLst xmlns:a="http://schemas.openxmlformats.org/drawingml/2006/main">
              <a:ext uri="{FF2B5EF4-FFF2-40B4-BE49-F238E27FC236}">
                <a16:creationId xmlns:a16="http://schemas.microsoft.com/office/drawing/2014/main" id="{6BA61102-1FBB-4630-AEA2-E56304FA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0383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Domain and data</a:t>
            </a:r>
          </a:p>
        </p:txBody>
      </p:sp>
      <p:sp>
        <p:nvSpPr>
          <p:cNvPr id="11" name="package-3-body">
            <a:extLst xmlns:a="http://schemas.openxmlformats.org/drawingml/2006/main">
              <a:ext uri="{FF2B5EF4-FFF2-40B4-BE49-F238E27FC236}">
                <a16:creationId xmlns:a16="http://schemas.microsoft.com/office/drawing/2014/main" id="{24865386-734F-4AAF-8115-B6C50CB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76500"/>
            <a:ext cx="49339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entity/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repository/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service/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JPA relationships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Business rules and status transitions</a:t>
            </a:r>
          </a:p>
        </p:txBody>
      </p:sp>
    </p:spTree>
    <p:extLst>
      <p:ext uri="{BB962C8B-B14F-4D97-AF65-F5344CB8AC3E}">
        <p14:creationId xmlns:p14="http://schemas.microsoft.com/office/powerpoint/2010/main" val="1096312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jpa-domain-model">
            <a:extLst xmlns:a="http://schemas.openxmlformats.org/drawingml/2006/main">
              <a:ext uri="{FF2B5EF4-FFF2-40B4-BE49-F238E27FC236}">
                <a16:creationId xmlns:a16="http://schemas.microsoft.com/office/drawing/2014/main" id="{37DAB1A1-D8B2-49AB-B014-18DD9CA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485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JPA DOMAIN MODEL</a:t>
            </a:r>
          </a:p>
        </p:txBody>
      </p:sp>
      <p:sp>
        <p:nvSpPr>
          <p:cNvPr id="2" name="entity-title">
            <a:extLst xmlns:a="http://schemas.openxmlformats.org/drawingml/2006/main">
              <a:ext uri="{FF2B5EF4-FFF2-40B4-BE49-F238E27FC236}">
                <a16:creationId xmlns:a16="http://schemas.microsoft.com/office/drawing/2014/main" id="{DF28E1F2-FC3F-49FB-8400-9A73957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Entities and relationships</a:t>
            </a:r>
          </a:p>
        </p:txBody>
      </p:sp>
      <p:sp>
        <p:nvSpPr>
          <p:cNvPr id="3" name="entity-subtitle">
            <a:extLst xmlns:a="http://schemas.openxmlformats.org/drawingml/2006/main">
              <a:ext uri="{FF2B5EF4-FFF2-40B4-BE49-F238E27FC236}">
                <a16:creationId xmlns:a16="http://schemas.microsoft.com/office/drawing/2014/main" id="{AC0D949C-C5B3-4D6F-B59E-E3907EF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931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16E"/>
                </a:solidFill>
              </a:defRPr>
            </a:pPr>
            <a:r>
              <a:rPr sz="1800">
                <a:solidFill>
                  <a:srgbClr val="52616E"/>
                </a:solidFill>
              </a:rPr>
              <a:t>The data model follows the real borrowing process instead of storing everything in a single flat table.</a:t>
            </a:r>
          </a:p>
        </p:txBody>
      </p:sp>
      <p:sp>
        <p:nvSpPr>
          <p:cNvPr id="4" name="entity-student">
            <a:extLst xmlns:a="http://schemas.openxmlformats.org/drawingml/2006/main">
              <a:ext uri="{FF2B5EF4-FFF2-40B4-BE49-F238E27FC236}">
                <a16:creationId xmlns:a16="http://schemas.microsoft.com/office/drawing/2014/main" id="{1B386B89-13C6-4ED4-8E9A-4B5E398A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1730"/>
            <a:ext cx="5384800" cy="6690360"/>
          </a:xfrm>
          <a:prstGeom xmlns:a="http://schemas.openxmlformats.org/drawingml/2006/main" prst="roundRect">
            <a:avLst>
              <a:gd name="adj" fmla="val 4599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5" name="entity-student-heading">
            <a:extLst xmlns:a="http://schemas.openxmlformats.org/drawingml/2006/main">
              <a:ext uri="{FF2B5EF4-FFF2-40B4-BE49-F238E27FC236}">
                <a16:creationId xmlns:a16="http://schemas.microsoft.com/office/drawing/2014/main" id="{4FA36DB1-F82C-4520-AFA7-3A253137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Student side</a:t>
            </a:r>
          </a:p>
        </p:txBody>
      </p:sp>
      <p:sp>
        <p:nvSpPr>
          <p:cNvPr id="6" name="entity-student-body">
            <a:extLst xmlns:a="http://schemas.openxmlformats.org/drawingml/2006/main">
              <a:ext uri="{FF2B5EF4-FFF2-40B4-BE49-F238E27FC236}">
                <a16:creationId xmlns:a16="http://schemas.microsoft.com/office/drawing/2014/main" id="{18664A00-7EA1-4339-8925-76BBB339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49339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Student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StudentProfile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One-to-one relation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Login fields stay in Student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Personal details stay in StudentProfile</a:t>
            </a:r>
          </a:p>
        </p:txBody>
      </p:sp>
      <p:sp>
        <p:nvSpPr>
          <p:cNvPr id="7" name="entity-resource">
            <a:extLst xmlns:a="http://schemas.openxmlformats.org/drawingml/2006/main">
              <a:ext uri="{FF2B5EF4-FFF2-40B4-BE49-F238E27FC236}">
                <a16:creationId xmlns:a16="http://schemas.microsoft.com/office/drawing/2014/main" id="{85DDBEAF-1BC6-4783-99E0-9F01A863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411730"/>
            <a:ext cx="5384800" cy="6690360"/>
          </a:xfrm>
          <a:prstGeom xmlns:a="http://schemas.openxmlformats.org/drawingml/2006/main" prst="roundRect">
            <a:avLst>
              <a:gd name="adj" fmla="val 4599"/>
            </a:avLst>
          </a:prstGeom>
          <a:solidFill xmlns:a="http://schemas.openxmlformats.org/drawingml/2006/main">
            <a:srgbClr val="E8EEF4"/>
          </a:solidFill>
        </p:spPr>
      </p:sp>
      <p:sp>
        <p:nvSpPr>
          <p:cNvPr id="8" name="entity-resource-heading">
            <a:extLst xmlns:a="http://schemas.openxmlformats.org/drawingml/2006/main">
              <a:ext uri="{FF2B5EF4-FFF2-40B4-BE49-F238E27FC236}">
                <a16:creationId xmlns:a16="http://schemas.microsoft.com/office/drawing/2014/main" id="{F851AD99-D71B-4406-B0CA-6C1F71B0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Inventory side</a:t>
            </a:r>
          </a:p>
        </p:txBody>
      </p:sp>
      <p:sp>
        <p:nvSpPr>
          <p:cNvPr id="9" name="entity-resource-body">
            <a:extLst xmlns:a="http://schemas.openxmlformats.org/drawingml/2006/main">
              <a:ext uri="{FF2B5EF4-FFF2-40B4-BE49-F238E27FC236}">
                <a16:creationId xmlns:a16="http://schemas.microsoft.com/office/drawing/2014/main" id="{0AAF09C1-D930-4055-8661-76883093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49339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Resource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ResourceTag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Many-to-many tag mapping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Asset code uniqueness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Quantity represents total capacity</a:t>
            </a:r>
          </a:p>
        </p:txBody>
      </p:sp>
      <p:sp>
        <p:nvSpPr>
          <p:cNvPr id="10" name="entity-flow">
            <a:extLst xmlns:a="http://schemas.openxmlformats.org/drawingml/2006/main">
              <a:ext uri="{FF2B5EF4-FFF2-40B4-BE49-F238E27FC236}">
                <a16:creationId xmlns:a16="http://schemas.microsoft.com/office/drawing/2014/main" id="{E0A7CD62-DC51-4CBD-BAFE-B0EADA2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411730"/>
            <a:ext cx="5384800" cy="6690360"/>
          </a:xfrm>
          <a:prstGeom xmlns:a="http://schemas.openxmlformats.org/drawingml/2006/main" prst="roundRect">
            <a:avLst>
              <a:gd name="adj" fmla="val 4599"/>
            </a:avLst>
          </a:prstGeom>
          <a:solidFill xmlns:a="http://schemas.openxmlformats.org/drawingml/2006/main">
            <a:srgbClr val="F7FBF8"/>
          </a:solidFill>
        </p:spPr>
      </p:sp>
      <p:sp>
        <p:nvSpPr>
          <p:cNvPr id="11" name="entity-flow-heading">
            <a:extLst xmlns:a="http://schemas.openxmlformats.org/drawingml/2006/main">
              <a:ext uri="{FF2B5EF4-FFF2-40B4-BE49-F238E27FC236}">
                <a16:creationId xmlns:a16="http://schemas.microsoft.com/office/drawing/2014/main" id="{4676435C-2376-47B6-8C4C-AA75A3A4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6479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Process side</a:t>
            </a:r>
          </a:p>
        </p:txBody>
      </p:sp>
      <p:sp>
        <p:nvSpPr>
          <p:cNvPr id="12" name="entity-flow-body">
            <a:extLst xmlns:a="http://schemas.openxmlformats.org/drawingml/2006/main">
              <a:ext uri="{FF2B5EF4-FFF2-40B4-BE49-F238E27FC236}">
                <a16:creationId xmlns:a16="http://schemas.microsoft.com/office/drawing/2014/main" id="{BEFA58FB-1498-440B-85BD-290ECE3F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67050"/>
            <a:ext cx="49339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Reservation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Notification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Reservation -&gt; Student many-to-one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Reservation -&gt; Resource many-to-one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Notification linked to both student and reservation</a:t>
            </a:r>
          </a:p>
        </p:txBody>
      </p:sp>
      <p:sp>
        <p:nvSpPr>
          <p:cNvPr id="13" name="entity-note">
            <a:extLst xmlns:a="http://schemas.openxmlformats.org/drawingml/2006/main">
              <a:ext uri="{FF2B5EF4-FFF2-40B4-BE49-F238E27FC236}">
                <a16:creationId xmlns:a16="http://schemas.microsoft.com/office/drawing/2014/main" id="{BFD3A0B5-C97E-4377-ABE4-8D07E025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1668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6E"/>
                </a:solidFill>
              </a:defRPr>
            </a:pPr>
            <a:r>
              <a:rPr sz="1650">
                <a:solidFill>
                  <a:srgbClr val="52616E"/>
                </a:solidFill>
              </a:rPr>
              <a:t>This separation improves normalization, avoids repeated profile data, and makes the model easier to extend later.</a:t>
            </a:r>
          </a:p>
        </p:txBody>
      </p:sp>
    </p:spTree>
    <p:extLst>
      <p:ext uri="{BB962C8B-B14F-4D97-AF65-F5344CB8AC3E}">
        <p14:creationId xmlns:p14="http://schemas.microsoft.com/office/powerpoint/2010/main" val="1807343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request-lifecycle">
            <a:extLst xmlns:a="http://schemas.openxmlformats.org/drawingml/2006/main">
              <a:ext uri="{FF2B5EF4-FFF2-40B4-BE49-F238E27FC236}">
                <a16:creationId xmlns:a16="http://schemas.microsoft.com/office/drawing/2014/main" id="{61FD6D8F-5B4B-4968-8263-6EE78916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390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REQUEST LIFECYCLE</a:t>
            </a:r>
          </a:p>
        </p:txBody>
      </p:sp>
      <p:sp>
        <p:nvSpPr>
          <p:cNvPr id="2" name="request-title">
            <a:extLst xmlns:a="http://schemas.openxmlformats.org/drawingml/2006/main">
              <a:ext uri="{FF2B5EF4-FFF2-40B4-BE49-F238E27FC236}">
                <a16:creationId xmlns:a16="http://schemas.microsoft.com/office/drawing/2014/main" id="{ACF76696-DC15-4697-AE10-912AA36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How one API request moves through Spring Boot</a:t>
            </a:r>
          </a:p>
        </p:txBody>
      </p:sp>
      <p:sp>
        <p:nvSpPr>
          <p:cNvPr id="3" name="request-controller">
            <a:extLst xmlns:a="http://schemas.openxmlformats.org/drawingml/2006/main">
              <a:ext uri="{FF2B5EF4-FFF2-40B4-BE49-F238E27FC236}">
                <a16:creationId xmlns:a16="http://schemas.microsoft.com/office/drawing/2014/main" id="{932F2F43-9F97-4922-9C42-CBF687AB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5010"/>
            <a:ext cx="9000173" cy="3712845"/>
          </a:xfrm>
          <a:prstGeom xmlns:a="http://schemas.openxmlformats.org/drawingml/2006/main" prst="roundRect">
            <a:avLst>
              <a:gd name="adj" fmla="val 6670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4" name="request-controller-heading">
            <a:extLst xmlns:a="http://schemas.openxmlformats.org/drawingml/2006/main">
              <a:ext uri="{FF2B5EF4-FFF2-40B4-BE49-F238E27FC236}">
                <a16:creationId xmlns:a16="http://schemas.microsoft.com/office/drawing/2014/main" id="{0146A6D5-03DA-4278-9961-F0DA72B2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853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1. Controller</a:t>
            </a:r>
          </a:p>
        </p:txBody>
      </p:sp>
      <p:sp>
        <p:nvSpPr>
          <p:cNvPr id="5" name="request-controller-body">
            <a:extLst xmlns:a="http://schemas.openxmlformats.org/drawingml/2006/main">
              <a:ext uri="{FF2B5EF4-FFF2-40B4-BE49-F238E27FC236}">
                <a16:creationId xmlns:a16="http://schemas.microsoft.com/office/drawing/2014/main" id="{EAA23E0E-A082-4B12-81B7-96BC0EBF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8534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Receives HTTP request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Uses @RequestMapping and @PostMapping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Applies @Valid to DTO input</a:t>
            </a:r>
          </a:p>
        </p:txBody>
      </p:sp>
      <p:sp>
        <p:nvSpPr>
          <p:cNvPr id="6" name="request-service">
            <a:extLst xmlns:a="http://schemas.openxmlformats.org/drawingml/2006/main">
              <a:ext uri="{FF2B5EF4-FFF2-40B4-BE49-F238E27FC236}">
                <a16:creationId xmlns:a16="http://schemas.microsoft.com/office/drawing/2014/main" id="{5C4150F4-8958-490C-9D18-2893BCB6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8355"/>
            <a:ext cx="9000173" cy="3712845"/>
          </a:xfrm>
          <a:prstGeom xmlns:a="http://schemas.openxmlformats.org/drawingml/2006/main" prst="roundRect">
            <a:avLst>
              <a:gd name="adj" fmla="val 6670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7" name="request-service-heading">
            <a:extLst xmlns:a="http://schemas.openxmlformats.org/drawingml/2006/main">
              <a:ext uri="{FF2B5EF4-FFF2-40B4-BE49-F238E27FC236}">
                <a16:creationId xmlns:a16="http://schemas.microsoft.com/office/drawing/2014/main" id="{7C5C25B5-F612-4926-907F-27F9F996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853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2. Service</a:t>
            </a:r>
          </a:p>
        </p:txBody>
      </p:sp>
      <p:sp>
        <p:nvSpPr>
          <p:cNvPr id="8" name="request-service-body">
            <a:extLst xmlns:a="http://schemas.openxmlformats.org/drawingml/2006/main">
              <a:ext uri="{FF2B5EF4-FFF2-40B4-BE49-F238E27FC236}">
                <a16:creationId xmlns:a16="http://schemas.microsoft.com/office/drawing/2014/main" id="{05658839-5363-401E-892B-B7242D5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53200"/>
            <a:ext cx="85344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Checks business rules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Finds student and resource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Validates capacity and dates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Creates or updates reservation state</a:t>
            </a:r>
          </a:p>
        </p:txBody>
      </p:sp>
      <p:sp>
        <p:nvSpPr>
          <p:cNvPr id="9" name="request-repo">
            <a:extLst xmlns:a="http://schemas.openxmlformats.org/drawingml/2006/main">
              <a:ext uri="{FF2B5EF4-FFF2-40B4-BE49-F238E27FC236}">
                <a16:creationId xmlns:a16="http://schemas.microsoft.com/office/drawing/2014/main" id="{58E4ED9C-4090-480B-8760-B9169685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123" y="1985010"/>
            <a:ext cx="7363778" cy="3712845"/>
          </a:xfrm>
          <a:prstGeom xmlns:a="http://schemas.openxmlformats.org/drawingml/2006/main" prst="roundRect">
            <a:avLst>
              <a:gd name="adj" fmla="val 6670"/>
            </a:avLst>
          </a:prstGeom>
          <a:solidFill xmlns:a="http://schemas.openxmlformats.org/drawingml/2006/main">
            <a:srgbClr val="E8EEF4"/>
          </a:solidFill>
        </p:spPr>
      </p:sp>
      <p:sp>
        <p:nvSpPr>
          <p:cNvPr id="10" name="request-repo-heading">
            <a:extLst xmlns:a="http://schemas.openxmlformats.org/drawingml/2006/main">
              <a:ext uri="{FF2B5EF4-FFF2-40B4-BE49-F238E27FC236}">
                <a16:creationId xmlns:a16="http://schemas.microsoft.com/office/drawing/2014/main" id="{C29D731F-A5D8-44EB-A121-575F1A2B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09800"/>
            <a:ext cx="691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3. Repository</a:t>
            </a:r>
          </a:p>
        </p:txBody>
      </p:sp>
      <p:sp>
        <p:nvSpPr>
          <p:cNvPr id="11" name="request-repo-body">
            <a:extLst xmlns:a="http://schemas.openxmlformats.org/drawingml/2006/main">
              <a:ext uri="{FF2B5EF4-FFF2-40B4-BE49-F238E27FC236}">
                <a16:creationId xmlns:a16="http://schemas.microsoft.com/office/drawing/2014/main" id="{6AD78D11-6999-4B90-BC4A-4B037435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47950"/>
            <a:ext cx="691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Spring Data JPA repositories execute persistence operations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Derived query methods avoid writing SQL for common lookups</a:t>
            </a:r>
          </a:p>
        </p:txBody>
      </p:sp>
      <p:sp>
        <p:nvSpPr>
          <p:cNvPr id="12" name="request-response">
            <a:extLst xmlns:a="http://schemas.openxmlformats.org/drawingml/2006/main">
              <a:ext uri="{FF2B5EF4-FFF2-40B4-BE49-F238E27FC236}">
                <a16:creationId xmlns:a16="http://schemas.microsoft.com/office/drawing/2014/main" id="{46267548-B25E-46B9-9E46-710A027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123" y="5888355"/>
            <a:ext cx="7363778" cy="3712845"/>
          </a:xfrm>
          <a:prstGeom xmlns:a="http://schemas.openxmlformats.org/drawingml/2006/main" prst="roundRect">
            <a:avLst>
              <a:gd name="adj" fmla="val 6670"/>
            </a:avLst>
          </a:prstGeom>
          <a:solidFill xmlns:a="http://schemas.openxmlformats.org/drawingml/2006/main">
            <a:srgbClr val="F8FBF7"/>
          </a:solidFill>
        </p:spPr>
      </p:sp>
      <p:sp>
        <p:nvSpPr>
          <p:cNvPr id="13" name="request-response-heading">
            <a:extLst xmlns:a="http://schemas.openxmlformats.org/drawingml/2006/main">
              <a:ext uri="{FF2B5EF4-FFF2-40B4-BE49-F238E27FC236}">
                <a16:creationId xmlns:a16="http://schemas.microsoft.com/office/drawing/2014/main" id="{4457669B-2D37-458E-981A-34BD5157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15050"/>
            <a:ext cx="691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4. Response DTO</a:t>
            </a:r>
          </a:p>
        </p:txBody>
      </p:sp>
      <p:sp>
        <p:nvSpPr>
          <p:cNvPr id="14" name="request-response-body">
            <a:extLst xmlns:a="http://schemas.openxmlformats.org/drawingml/2006/main">
              <a:ext uri="{FF2B5EF4-FFF2-40B4-BE49-F238E27FC236}">
                <a16:creationId xmlns:a16="http://schemas.microsoft.com/office/drawing/2014/main" id="{37F7E8E2-B0D6-4414-923B-64339003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53200"/>
            <a:ext cx="6915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Entity is mapped to ReservationResponse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Frontend receives only the fields it needs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Validation and internal fields stay controlled</a:t>
            </a:r>
          </a:p>
        </p:txBody>
      </p:sp>
    </p:spTree>
    <p:extLst>
      <p:ext uri="{BB962C8B-B14F-4D97-AF65-F5344CB8AC3E}">
        <p14:creationId xmlns:p14="http://schemas.microsoft.com/office/powerpoint/2010/main" val="1658645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reservation-logic">
            <a:extLst xmlns:a="http://schemas.openxmlformats.org/drawingml/2006/main">
              <a:ext uri="{FF2B5EF4-FFF2-40B4-BE49-F238E27FC236}">
                <a16:creationId xmlns:a16="http://schemas.microsoft.com/office/drawing/2014/main" id="{C2D19364-F3A8-413B-9968-AB97D435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447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RESERVATION LOGIC</a:t>
            </a:r>
          </a:p>
        </p:txBody>
      </p:sp>
      <p:sp>
        <p:nvSpPr>
          <p:cNvPr id="2" name="workflow-heading">
            <a:extLst xmlns:a="http://schemas.openxmlformats.org/drawingml/2006/main">
              <a:ext uri="{FF2B5EF4-FFF2-40B4-BE49-F238E27FC236}">
                <a16:creationId xmlns:a16="http://schemas.microsoft.com/office/drawing/2014/main" id="{0646F51F-9EBB-43EE-9510-5BEAC42C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This is the core business workflow</a:t>
            </a:r>
          </a:p>
        </p:txBody>
      </p:sp>
      <p:sp>
        <p:nvSpPr>
          <p:cNvPr id="3" name="workflow-student">
            <a:extLst xmlns:a="http://schemas.openxmlformats.org/drawingml/2006/main">
              <a:ext uri="{FF2B5EF4-FFF2-40B4-BE49-F238E27FC236}">
                <a16:creationId xmlns:a16="http://schemas.microsoft.com/office/drawing/2014/main" id="{36CA8D9A-9AF8-44DD-BA5E-4383B941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5010"/>
            <a:ext cx="5410200" cy="7616190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4" name="workflow-student-heading">
            <a:extLst xmlns:a="http://schemas.openxmlformats.org/drawingml/2006/main">
              <a:ext uri="{FF2B5EF4-FFF2-40B4-BE49-F238E27FC236}">
                <a16:creationId xmlns:a16="http://schemas.microsoft.com/office/drawing/2014/main" id="{17EBE972-8620-48A3-9948-9203A9A9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Student request</a:t>
            </a:r>
          </a:p>
        </p:txBody>
      </p:sp>
      <p:sp>
        <p:nvSpPr>
          <p:cNvPr id="5" name="workflow-student-body">
            <a:extLst xmlns:a="http://schemas.openxmlformats.org/drawingml/2006/main">
              <a:ext uri="{FF2B5EF4-FFF2-40B4-BE49-F238E27FC236}">
                <a16:creationId xmlns:a16="http://schemas.microsoft.com/office/drawing/2014/main" id="{548D9F94-33D7-4FC6-AB49-4FFDADB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4953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Request starts as PENDING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Student must reserve at least 2 days ahead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Start and end dates must be weekdays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Pending requests do not consume capacity yet</a:t>
            </a:r>
          </a:p>
        </p:txBody>
      </p:sp>
      <p:sp>
        <p:nvSpPr>
          <p:cNvPr id="6" name="workflow-admin">
            <a:extLst xmlns:a="http://schemas.openxmlformats.org/drawingml/2006/main">
              <a:ext uri="{FF2B5EF4-FFF2-40B4-BE49-F238E27FC236}">
                <a16:creationId xmlns:a16="http://schemas.microsoft.com/office/drawing/2014/main" id="{230E0A98-4930-43D6-BE3A-792F7B60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5010"/>
            <a:ext cx="5410200" cy="7616190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E8EEF4"/>
          </a:solidFill>
        </p:spPr>
      </p:sp>
      <p:sp>
        <p:nvSpPr>
          <p:cNvPr id="7" name="workflow-admin-heading">
            <a:extLst xmlns:a="http://schemas.openxmlformats.org/drawingml/2006/main">
              <a:ext uri="{FF2B5EF4-FFF2-40B4-BE49-F238E27FC236}">
                <a16:creationId xmlns:a16="http://schemas.microsoft.com/office/drawing/2014/main" id="{114B2E3D-F807-41CC-BE59-994F985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Admin approval</a:t>
            </a:r>
          </a:p>
        </p:txBody>
      </p:sp>
      <p:sp>
        <p:nvSpPr>
          <p:cNvPr id="8" name="workflow-admin-body">
            <a:extLst xmlns:a="http://schemas.openxmlformats.org/drawingml/2006/main">
              <a:ext uri="{FF2B5EF4-FFF2-40B4-BE49-F238E27FC236}">
                <a16:creationId xmlns:a16="http://schemas.microsoft.com/office/drawing/2014/main" id="{8056ADF0-3C6A-4B7F-B71A-675423A8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953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Approve pending request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Capacity is checked again for the selected dates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APPROVED if start date is in the future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ACTIVE if start date is today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Overflow requests are rejected and students are notified</a:t>
            </a:r>
          </a:p>
        </p:txBody>
      </p:sp>
      <p:sp>
        <p:nvSpPr>
          <p:cNvPr id="9" name="workflow-return">
            <a:extLst xmlns:a="http://schemas.openxmlformats.org/drawingml/2006/main">
              <a:ext uri="{FF2B5EF4-FFF2-40B4-BE49-F238E27FC236}">
                <a16:creationId xmlns:a16="http://schemas.microsoft.com/office/drawing/2014/main" id="{70C3D932-97B6-4C32-AEA1-60F57849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1985010"/>
            <a:ext cx="5410200" cy="7616190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7FBF8"/>
          </a:solidFill>
        </p:spPr>
      </p:sp>
      <p:sp>
        <p:nvSpPr>
          <p:cNvPr id="10" name="workflow-return-heading">
            <a:extLst xmlns:a="http://schemas.openxmlformats.org/drawingml/2006/main">
              <a:ext uri="{FF2B5EF4-FFF2-40B4-BE49-F238E27FC236}">
                <a16:creationId xmlns:a16="http://schemas.microsoft.com/office/drawing/2014/main" id="{0479A360-9083-4133-9063-F236748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209800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Return and overdue</a:t>
            </a:r>
          </a:p>
        </p:txBody>
      </p:sp>
      <p:sp>
        <p:nvSpPr>
          <p:cNvPr id="11" name="workflow-return-body">
            <a:extLst xmlns:a="http://schemas.openxmlformats.org/drawingml/2006/main">
              <a:ext uri="{FF2B5EF4-FFF2-40B4-BE49-F238E27FC236}">
                <a16:creationId xmlns:a16="http://schemas.microsoft.com/office/drawing/2014/main" id="{3280345C-E3C4-41D0-82A3-AA8F6492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647950"/>
            <a:ext cx="495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RETURNED when admin confirms return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OVERDUE when expected return date is passed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REJECTED for unapproved requests that miss the start date</a:t>
            </a:r>
          </a:p>
        </p:txBody>
      </p:sp>
    </p:spTree>
    <p:extLst>
      <p:ext uri="{BB962C8B-B14F-4D97-AF65-F5344CB8AC3E}">
        <p14:creationId xmlns:p14="http://schemas.microsoft.com/office/powerpoint/2010/main" val="1448468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automation-and-resilience">
            <a:extLst xmlns:a="http://schemas.openxmlformats.org/drawingml/2006/main">
              <a:ext uri="{FF2B5EF4-FFF2-40B4-BE49-F238E27FC236}">
                <a16:creationId xmlns:a16="http://schemas.microsoft.com/office/drawing/2014/main" id="{4C7848C8-F941-46BA-B68D-F9B0233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2209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AUTOMATION AND RESILIENCE</a:t>
            </a:r>
          </a:p>
        </p:txBody>
      </p:sp>
      <p:sp>
        <p:nvSpPr>
          <p:cNvPr id="2" name="notification-heading">
            <a:extLst xmlns:a="http://schemas.openxmlformats.org/drawingml/2006/main">
              <a:ext uri="{FF2B5EF4-FFF2-40B4-BE49-F238E27FC236}">
                <a16:creationId xmlns:a16="http://schemas.microsoft.com/office/drawing/2014/main" id="{B149CD48-E8E1-472B-9F4D-B3B56D64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Scheduling, validation, and exception handling</a:t>
            </a:r>
          </a:p>
        </p:txBody>
      </p:sp>
      <p:sp>
        <p:nvSpPr>
          <p:cNvPr id="3" name="scheduler-card">
            <a:extLst xmlns:a="http://schemas.openxmlformats.org/drawingml/2006/main">
              <a:ext uri="{FF2B5EF4-FFF2-40B4-BE49-F238E27FC236}">
                <a16:creationId xmlns:a16="http://schemas.microsoft.com/office/drawing/2014/main" id="{523A5FDF-D59F-4BDE-8228-472979F2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5010"/>
            <a:ext cx="8201025" cy="761619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6FBFF"/>
          </a:solidFill>
        </p:spPr>
      </p:sp>
      <p:sp>
        <p:nvSpPr>
          <p:cNvPr id="4" name="scheduler-card-heading">
            <a:extLst xmlns:a="http://schemas.openxmlformats.org/drawingml/2006/main">
              <a:ext uri="{FF2B5EF4-FFF2-40B4-BE49-F238E27FC236}">
                <a16:creationId xmlns:a16="http://schemas.microsoft.com/office/drawing/2014/main" id="{FD8579EB-C8E9-4477-A698-1367C866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NotificationService</a:t>
            </a:r>
          </a:p>
        </p:txBody>
      </p:sp>
      <p:sp>
        <p:nvSpPr>
          <p:cNvPr id="5" name="scheduler-card-body">
            <a:extLst xmlns:a="http://schemas.openxmlformats.org/drawingml/2006/main">
              <a:ext uri="{FF2B5EF4-FFF2-40B4-BE49-F238E27FC236}">
                <a16:creationId xmlns:a16="http://schemas.microsoft.com/office/drawing/2014/main" id="{46982AC0-BB9B-4504-B073-DD58997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77533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@EnableScheduling activates the cron system.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@Scheduled(cron = "0 0 8 * * *") sends due-soon reminders every morning.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ApplicationReadyEvent also seeds reminders at startup for the demo.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ReservationService creates request, approval, and rejection notifications immediately.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Admins can send manual overdue alerts to students.</a:t>
            </a:r>
          </a:p>
        </p:txBody>
      </p:sp>
      <p:sp>
        <p:nvSpPr>
          <p:cNvPr id="6" name="exception-card">
            <a:extLst xmlns:a="http://schemas.openxmlformats.org/drawingml/2006/main">
              <a:ext uri="{FF2B5EF4-FFF2-40B4-BE49-F238E27FC236}">
                <a16:creationId xmlns:a16="http://schemas.microsoft.com/office/drawing/2014/main" id="{C3BC9254-63A9-48BB-BC92-753E0D51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85010"/>
            <a:ext cx="8201025" cy="761619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7" name="exception-card-heading">
            <a:extLst xmlns:a="http://schemas.openxmlformats.org/drawingml/2006/main">
              <a:ext uri="{FF2B5EF4-FFF2-40B4-BE49-F238E27FC236}">
                <a16:creationId xmlns:a16="http://schemas.microsoft.com/office/drawing/2014/main" id="{AD8A10B2-388C-440C-88F4-47F1607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Validation and errors</a:t>
            </a:r>
          </a:p>
        </p:txBody>
      </p:sp>
      <p:sp>
        <p:nvSpPr>
          <p:cNvPr id="8" name="exception-card-body">
            <a:extLst xmlns:a="http://schemas.openxmlformats.org/drawingml/2006/main">
              <a:ext uri="{FF2B5EF4-FFF2-40B4-BE49-F238E27FC236}">
                <a16:creationId xmlns:a16="http://schemas.microsoft.com/office/drawing/2014/main" id="{935AA4E2-DD9F-46E3-9769-0F0372E3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7753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DTO annotations validate request data before business logic runs.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BusinessException represents rule violations such as full booking or invalid dates.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GlobalExceptionHandler converts errors into clean JSON responses with 400 or 404 status codes.</a:t>
            </a:r>
          </a:p>
        </p:txBody>
      </p:sp>
    </p:spTree>
    <p:extLst>
      <p:ext uri="{BB962C8B-B14F-4D97-AF65-F5344CB8AC3E}">
        <p14:creationId xmlns:p14="http://schemas.microsoft.com/office/powerpoint/2010/main" val="849502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important-code-files">
            <a:extLst xmlns:a="http://schemas.openxmlformats.org/drawingml/2006/main">
              <a:ext uri="{FF2B5EF4-FFF2-40B4-BE49-F238E27FC236}">
                <a16:creationId xmlns:a16="http://schemas.microsoft.com/office/drawing/2014/main" id="{9B17F385-12BF-49A7-8F44-F181B67D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IMPORTANT CODE FILES</a:t>
            </a:r>
          </a:p>
        </p:txBody>
      </p:sp>
      <p:sp>
        <p:nvSpPr>
          <p:cNvPr id="2" name="files-heading">
            <a:extLst xmlns:a="http://schemas.openxmlformats.org/drawingml/2006/main">
              <a:ext uri="{FF2B5EF4-FFF2-40B4-BE49-F238E27FC236}">
                <a16:creationId xmlns:a16="http://schemas.microsoft.com/office/drawing/2014/main" id="{F991F30B-D367-4189-87A3-2F0C7B9C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What to mention if the professor asks where the logic is</a:t>
            </a:r>
          </a:p>
        </p:txBody>
      </p:sp>
      <p:sp>
        <p:nvSpPr>
          <p:cNvPr id="3" name="files-left">
            <a:extLst xmlns:a="http://schemas.openxmlformats.org/drawingml/2006/main">
              <a:ext uri="{FF2B5EF4-FFF2-40B4-BE49-F238E27FC236}">
                <a16:creationId xmlns:a16="http://schemas.microsoft.com/office/drawing/2014/main" id="{BB402ECA-034C-449F-AF13-10E1E17B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8610600" cy="782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CampusResourceHubBackendApplication.java: startup, property scanning, scheduling.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ReservationService.java: main business logic for reservation creation, approval, status refresh, and capacity rules.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NotificationService.java: request, approval, rejection, reminder, and overdue alerts.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AuthService.java and SecurityConfig.java: JWT login and role-based access control.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GlobalExceptionHandler.java: centralized API error responses.</a:t>
            </a:r>
          </a:p>
        </p:txBody>
      </p:sp>
      <p:sp>
        <p:nvSpPr>
          <p:cNvPr id="4" name="files-right">
            <a:extLst xmlns:a="http://schemas.openxmlformats.org/drawingml/2006/main">
              <a:ext uri="{FF2B5EF4-FFF2-40B4-BE49-F238E27FC236}">
                <a16:creationId xmlns:a16="http://schemas.microsoft.com/office/drawing/2014/main" id="{B2E8C299-9304-4109-BC27-F013A4A4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7791450" cy="782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ReservationController.java: exposes reservation endpoints.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DataSeeder.java: prepares demo students, resources, and reservations.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StudentReservationRequest.java and ReservationRequest.java: validation contracts.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Reservation.java, Student.java, Resource.java: JPA entities and relationships.</a:t>
            </a:r>
          </a:p>
          <a:p xmlns:a="http://schemas.openxmlformats.org/drawingml/2006/main">
            <a:pPr>
              <a:defRPr sz="1950">
                <a:solidFill>
                  <a:srgbClr val="52616E"/>
                </a:solidFill>
              </a:defRPr>
            </a:pPr>
            <a:r>
              <a:rPr sz="1950">
                <a:solidFill>
                  <a:srgbClr val="52616E"/>
                </a:solidFill>
              </a:rPr>
              <a:t>• application.properties: ports, MySQL, JPA, and custom app properties.</a:t>
            </a:r>
          </a:p>
        </p:txBody>
      </p:sp>
    </p:spTree>
    <p:extLst>
      <p:ext uri="{BB962C8B-B14F-4D97-AF65-F5344CB8AC3E}">
        <p14:creationId xmlns:p14="http://schemas.microsoft.com/office/powerpoint/2010/main" val="1852280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likely-questions">
            <a:extLst xmlns:a="http://schemas.openxmlformats.org/drawingml/2006/main">
              <a:ext uri="{FF2B5EF4-FFF2-40B4-BE49-F238E27FC236}">
                <a16:creationId xmlns:a16="http://schemas.microsoft.com/office/drawing/2014/main" id="{53D2D144-BE98-4D8B-92AF-0954F29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31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LIKELY QUESTIONS</a:t>
            </a:r>
          </a:p>
        </p:txBody>
      </p:sp>
      <p:sp>
        <p:nvSpPr>
          <p:cNvPr id="2" name="qa-heading">
            <a:extLst xmlns:a="http://schemas.openxmlformats.org/drawingml/2006/main">
              <a:ext uri="{FF2B5EF4-FFF2-40B4-BE49-F238E27FC236}">
                <a16:creationId xmlns:a16="http://schemas.microsoft.com/office/drawing/2014/main" id="{B7F83D7E-43A9-497C-8F29-7987F9E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6687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1E18"/>
                </a:solidFill>
              </a:defRPr>
            </a:pPr>
            <a:r>
              <a:rPr sz="3450" b="1">
                <a:solidFill>
                  <a:srgbClr val="2B1E18"/>
                </a:solidFill>
              </a:rPr>
              <a:t>Short answers for the oral defense</a:t>
            </a:r>
          </a:p>
        </p:txBody>
      </p:sp>
      <p:sp>
        <p:nvSpPr>
          <p:cNvPr id="3" name="qa-left">
            <a:extLst xmlns:a="http://schemas.openxmlformats.org/drawingml/2006/main">
              <a:ext uri="{FF2B5EF4-FFF2-40B4-BE49-F238E27FC236}">
                <a16:creationId xmlns:a16="http://schemas.microsoft.com/office/drawing/2014/main" id="{18A28C8F-5B51-4443-A788-C4F243E7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9270"/>
            <a:ext cx="8210550" cy="7821930"/>
          </a:xfrm>
          <a:prstGeom xmlns:a="http://schemas.openxmlformats.org/drawingml/2006/main" prst="roundRect">
            <a:avLst>
              <a:gd name="adj" fmla="val 3166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4" name="qa-left-heading">
            <a:extLst xmlns:a="http://schemas.openxmlformats.org/drawingml/2006/main">
              <a:ext uri="{FF2B5EF4-FFF2-40B4-BE49-F238E27FC236}">
                <a16:creationId xmlns:a16="http://schemas.microsoft.com/office/drawing/2014/main" id="{61826DA3-F8CA-47D5-AC42-C6E3F7C4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Common technical questions</a:t>
            </a:r>
          </a:p>
        </p:txBody>
      </p:sp>
      <p:sp>
        <p:nvSpPr>
          <p:cNvPr id="5" name="qa-left-body">
            <a:extLst xmlns:a="http://schemas.openxmlformats.org/drawingml/2006/main">
              <a:ext uri="{FF2B5EF4-FFF2-40B4-BE49-F238E27FC236}">
                <a16:creationId xmlns:a16="http://schemas.microsoft.com/office/drawing/2014/main" id="{50564E7A-B881-4E9A-92C1-4BDB435C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7753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Why Spring Boot? Because it provides auto-configuration, REST support, validation, JPA, and scheduling with less boilerplate.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Why not put logic in controllers? Because services keep business rules reusable and testable.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Why DTOs? To validate input and avoid exposing entities directly.</a:t>
            </a:r>
          </a:p>
        </p:txBody>
      </p:sp>
      <p:sp>
        <p:nvSpPr>
          <p:cNvPr id="6" name="qa-right">
            <a:extLst xmlns:a="http://schemas.openxmlformats.org/drawingml/2006/main">
              <a:ext uri="{FF2B5EF4-FFF2-40B4-BE49-F238E27FC236}">
                <a16:creationId xmlns:a16="http://schemas.microsoft.com/office/drawing/2014/main" id="{731325B1-06F3-473E-8CEB-BF379B18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79270"/>
            <a:ext cx="8210550" cy="7821930"/>
          </a:xfrm>
          <a:prstGeom xmlns:a="http://schemas.openxmlformats.org/drawingml/2006/main" prst="roundRect">
            <a:avLst>
              <a:gd name="adj" fmla="val 3166"/>
            </a:avLst>
          </a:prstGeom>
          <a:solidFill xmlns:a="http://schemas.openxmlformats.org/drawingml/2006/main">
            <a:srgbClr val="FFFDFC"/>
          </a:solidFill>
        </p:spPr>
      </p:sp>
      <p:sp>
        <p:nvSpPr>
          <p:cNvPr id="7" name="qa-right-heading">
            <a:extLst xmlns:a="http://schemas.openxmlformats.org/drawingml/2006/main">
              <a:ext uri="{FF2B5EF4-FFF2-40B4-BE49-F238E27FC236}">
                <a16:creationId xmlns:a16="http://schemas.microsoft.com/office/drawing/2014/main" id="{91D98BA3-2E78-49EB-B62A-18F1FAB3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7753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1E18"/>
                </a:solidFill>
              </a:defRPr>
            </a:pPr>
            <a:r>
              <a:rPr sz="1950" b="1">
                <a:solidFill>
                  <a:srgbClr val="2B1E18"/>
                </a:solidFill>
              </a:rPr>
              <a:t>Honest project limits</a:t>
            </a:r>
          </a:p>
        </p:txBody>
      </p:sp>
      <p:sp>
        <p:nvSpPr>
          <p:cNvPr id="8" name="qa-right-body">
            <a:extLst xmlns:a="http://schemas.openxmlformats.org/drawingml/2006/main">
              <a:ext uri="{FF2B5EF4-FFF2-40B4-BE49-F238E27FC236}">
                <a16:creationId xmlns:a16="http://schemas.microsoft.com/office/drawing/2014/main" id="{0CD46D7D-458D-4611-9BB6-2B96FFE2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38400"/>
            <a:ext cx="7753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The database is local XAMPP MySQL, so the demo depends on MySQL being started.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Passwords are plain for demo scope, not production security.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Authentication uses JWT and role-based access control in the Spring Boot backend.</a:t>
            </a:r>
          </a:p>
          <a:p xmlns:a="http://schemas.openxmlformats.org/drawingml/2006/main">
            <a:pPr>
              <a:defRPr sz="1575">
                <a:solidFill>
                  <a:srgbClr val="52616E"/>
                </a:solidFill>
              </a:defRPr>
            </a:pPr>
            <a:r>
              <a:rPr sz="1575">
                <a:solidFill>
                  <a:srgbClr val="52616E"/>
                </a:solidFill>
              </a:rPr>
              <a:t>Frontend is React in this repository, while Spring Boot remains the academic focus.</a:t>
            </a:r>
          </a:p>
        </p:txBody>
      </p:sp>
    </p:spTree>
    <p:extLst>
      <p:ext uri="{BB962C8B-B14F-4D97-AF65-F5344CB8AC3E}">
        <p14:creationId xmlns:p14="http://schemas.microsoft.com/office/powerpoint/2010/main" val="1009959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5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closing-summary">
            <a:extLst xmlns:a="http://schemas.openxmlformats.org/drawingml/2006/main">
              <a:ext uri="{FF2B5EF4-FFF2-40B4-BE49-F238E27FC236}">
                <a16:creationId xmlns:a16="http://schemas.microsoft.com/office/drawing/2014/main" id="{5AF0DBD3-DAF2-4839-9AA7-4BF31CA4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447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8158"/>
                </a:solidFill>
              </a:defRPr>
            </a:pPr>
            <a:r>
              <a:rPr sz="1350" b="1">
                <a:solidFill>
                  <a:srgbClr val="E68158"/>
                </a:solidFill>
              </a:rPr>
              <a:t>CLOSING SUMMARY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B62019E-F37E-4906-9794-AB33DF22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6108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DFC"/>
                </a:solidFill>
              </a:defRPr>
            </a:pPr>
            <a:r>
              <a:rPr sz="4350" b="1">
                <a:solidFill>
                  <a:srgbClr val="FFFDFC"/>
                </a:solidFill>
              </a:rPr>
              <a:t>What this project demonstrates in Spring Boot</a:t>
            </a:r>
          </a:p>
        </p:txBody>
      </p:sp>
      <p:sp>
        <p:nvSpPr>
          <p:cNvPr id="3" name="closing-bullets">
            <a:extLst xmlns:a="http://schemas.openxmlformats.org/drawingml/2006/main">
              <a:ext uri="{FF2B5EF4-FFF2-40B4-BE49-F238E27FC236}">
                <a16:creationId xmlns:a16="http://schemas.microsoft.com/office/drawing/2014/main" id="{451FFF8B-E437-419A-8F3D-1175B7A4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64592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DCE7F2"/>
                </a:solidFill>
              </a:defRPr>
            </a:pPr>
            <a:r>
              <a:rPr sz="1950">
                <a:solidFill>
                  <a:srgbClr val="DCE7F2"/>
                </a:solidFill>
              </a:rPr>
              <a:t>• Layered architecture: controller, service, repository, DTO, entity, exception.</a:t>
            </a:r>
          </a:p>
          <a:p xmlns:a="http://schemas.openxmlformats.org/drawingml/2006/main">
            <a:pPr>
              <a:defRPr sz="1950">
                <a:solidFill>
                  <a:srgbClr val="DCE7F2"/>
                </a:solidFill>
              </a:defRPr>
            </a:pPr>
            <a:r>
              <a:rPr sz="1950">
                <a:solidFill>
                  <a:srgbClr val="DCE7F2"/>
                </a:solidFill>
              </a:rPr>
              <a:t>• JPA entity relationships that reflect a real reservation domain.</a:t>
            </a:r>
          </a:p>
          <a:p xmlns:a="http://schemas.openxmlformats.org/drawingml/2006/main">
            <a:pPr>
              <a:defRPr sz="1950">
                <a:solidFill>
                  <a:srgbClr val="DCE7F2"/>
                </a:solidFill>
              </a:defRPr>
            </a:pPr>
            <a:r>
              <a:rPr sz="1950">
                <a:solidFill>
                  <a:srgbClr val="DCE7F2"/>
                </a:solidFill>
              </a:rPr>
              <a:t>• Business-rule implementation beyond CRUD.</a:t>
            </a:r>
          </a:p>
          <a:p xmlns:a="http://schemas.openxmlformats.org/drawingml/2006/main">
            <a:pPr>
              <a:defRPr sz="1950">
                <a:solidFill>
                  <a:srgbClr val="DCE7F2"/>
                </a:solidFill>
              </a:defRPr>
            </a:pPr>
            <a:r>
              <a:rPr sz="1950">
                <a:solidFill>
                  <a:srgbClr val="DCE7F2"/>
                </a:solidFill>
              </a:rPr>
              <a:t>• Validation, scheduling, notifications, and date-capacity control.</a:t>
            </a:r>
          </a:p>
          <a:p xmlns:a="http://schemas.openxmlformats.org/drawingml/2006/main">
            <a:pPr>
              <a:defRPr sz="1950">
                <a:solidFill>
                  <a:srgbClr val="DCE7F2"/>
                </a:solidFill>
              </a:defRPr>
            </a:pPr>
            <a:r>
              <a:rPr sz="1950">
                <a:solidFill>
                  <a:srgbClr val="DCE7F2"/>
                </a:solidFill>
              </a:rPr>
              <a:t>• A backend designed to support a separated frontend through REST APIs.</a:t>
            </a:r>
          </a:p>
        </p:txBody>
      </p:sp>
    </p:spTree>
    <p:extLst>
      <p:ext uri="{BB962C8B-B14F-4D97-AF65-F5344CB8AC3E}">
        <p14:creationId xmlns:p14="http://schemas.microsoft.com/office/powerpoint/2010/main" val="29811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2026-05-16T22:16:13.8440000Z</dcterms:created>
  <dcterms:modified xsi:type="dcterms:W3CDTF">2026-05-16T22:16:13.8440000Z</dcterms:modified>
</coreProperties>
</file>